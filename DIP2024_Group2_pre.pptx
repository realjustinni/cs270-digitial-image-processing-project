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451" r:id="rId2"/>
    <p:sldId id="452" r:id="rId3"/>
    <p:sldId id="461" r:id="rId4"/>
    <p:sldId id="470" r:id="rId5"/>
    <p:sldId id="462" r:id="rId6"/>
    <p:sldId id="463" r:id="rId7"/>
    <p:sldId id="464" r:id="rId8"/>
    <p:sldId id="465" r:id="rId9"/>
    <p:sldId id="466" r:id="rId10"/>
    <p:sldId id="468" r:id="rId11"/>
    <p:sldId id="469" r:id="rId12"/>
    <p:sldId id="45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E00BB"/>
    <a:srgbClr val="003AA3"/>
    <a:srgbClr val="FF4B4B"/>
    <a:srgbClr val="D8B9BA"/>
    <a:srgbClr val="99B3D7"/>
    <a:srgbClr val="DC9D9C"/>
    <a:srgbClr val="2800AE"/>
    <a:srgbClr val="014099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66" autoAdjust="0"/>
    <p:restoredTop sz="85375" autoAdjust="0"/>
  </p:normalViewPr>
  <p:slideViewPr>
    <p:cSldViewPr snapToGrid="0">
      <p:cViewPr>
        <p:scale>
          <a:sx n="100" d="100"/>
          <a:sy n="100" d="100"/>
        </p:scale>
        <p:origin x="888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C3268D-D47B-4970-8128-85AD8508620E}" type="doc">
      <dgm:prSet loTypeId="urn:microsoft.com/office/officeart/2005/8/layout/process1" loCatId="process" qsTypeId="urn:microsoft.com/office/officeart/2005/8/quickstyle/simple1" qsCatId="simple" csTypeId="urn:microsoft.com/office/officeart/2005/8/colors/accent6_1" csCatId="accent6" phldr="1"/>
      <dgm:spPr/>
    </dgm:pt>
    <dgm:pt modelId="{74A73AE1-74B3-46B6-AFDC-032756FD722A}">
      <dgm:prSet phldrT="[文本]"/>
      <dgm:spPr/>
      <dgm:t>
        <a:bodyPr/>
        <a:lstStyle/>
        <a:p>
          <a:r>
            <a: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1.Shadow Detection</a:t>
          </a:r>
          <a:endParaRPr lang="zh-CN" alt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3A159D5-3A05-48CF-AA60-903A1796D7A9}" type="parTrans" cxnId="{92749622-4523-4E6A-B1F2-7ECB43776552}">
      <dgm:prSet/>
      <dgm:spPr/>
      <dgm:t>
        <a:bodyPr/>
        <a:lstStyle/>
        <a:p>
          <a:endParaRPr lang="zh-CN" altLang="en-US"/>
        </a:p>
      </dgm:t>
    </dgm:pt>
    <dgm:pt modelId="{C51562B9-75E6-4B25-816C-DCA10D9A72A5}" type="sibTrans" cxnId="{92749622-4523-4E6A-B1F2-7ECB43776552}">
      <dgm:prSet/>
      <dgm:spPr/>
      <dgm:t>
        <a:bodyPr/>
        <a:lstStyle/>
        <a:p>
          <a:endParaRPr lang="zh-CN" altLang="en-US"/>
        </a:p>
      </dgm:t>
    </dgm:pt>
    <dgm:pt modelId="{BA362246-16A6-49E9-8DF3-18F5F8844961}">
      <dgm:prSet phldrT="[文本]"/>
      <dgm:spPr/>
      <dgm:t>
        <a:bodyPr/>
        <a:lstStyle/>
        <a:p>
          <a:r>
            <a: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3.Region Growing</a:t>
          </a:r>
          <a:endParaRPr lang="zh-CN" alt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3943D7D-4094-4BC0-BFFC-20D3CF19743C}" type="parTrans" cxnId="{BBF1B57B-8127-4200-A651-499A7191F412}">
      <dgm:prSet/>
      <dgm:spPr/>
      <dgm:t>
        <a:bodyPr/>
        <a:lstStyle/>
        <a:p>
          <a:endParaRPr lang="zh-CN" altLang="en-US"/>
        </a:p>
      </dgm:t>
    </dgm:pt>
    <dgm:pt modelId="{E4DBD8DE-CD64-48EF-8079-4E2086EF72E6}" type="sibTrans" cxnId="{BBF1B57B-8127-4200-A651-499A7191F412}">
      <dgm:prSet/>
      <dgm:spPr/>
      <dgm:t>
        <a:bodyPr/>
        <a:lstStyle/>
        <a:p>
          <a:endParaRPr lang="zh-CN" altLang="en-US"/>
        </a:p>
      </dgm:t>
    </dgm:pt>
    <dgm:pt modelId="{E408010C-E6CF-4A15-8B1D-A78BA9237893}">
      <dgm:prSet phldrT="[文本]"/>
      <dgm:spPr/>
      <dgm:t>
        <a:bodyPr/>
        <a:lstStyle/>
        <a:p>
          <a:r>
            <a: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4.Boundary Extraction</a:t>
          </a:r>
          <a:endParaRPr lang="zh-CN" alt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B2C767E-E4E6-43C5-81DD-EF3E89333D2C}" type="parTrans" cxnId="{4DFDFAF3-107B-4C86-9BEF-F908B7178CF9}">
      <dgm:prSet/>
      <dgm:spPr/>
      <dgm:t>
        <a:bodyPr/>
        <a:lstStyle/>
        <a:p>
          <a:endParaRPr lang="zh-CN" altLang="en-US"/>
        </a:p>
      </dgm:t>
    </dgm:pt>
    <dgm:pt modelId="{15E3E6F5-5A16-4385-83B4-7EC2866AF064}" type="sibTrans" cxnId="{4DFDFAF3-107B-4C86-9BEF-F908B7178CF9}">
      <dgm:prSet/>
      <dgm:spPr/>
      <dgm:t>
        <a:bodyPr/>
        <a:lstStyle/>
        <a:p>
          <a:endParaRPr lang="zh-CN" altLang="en-US"/>
        </a:p>
      </dgm:t>
    </dgm:pt>
    <dgm:pt modelId="{1F35C959-AFA8-4881-A7F9-F507549176FD}">
      <dgm:prSet phldrT="[文本]"/>
      <dgm:spPr/>
      <dgm:t>
        <a:bodyPr/>
        <a:lstStyle/>
        <a:p>
          <a:r>
            <a: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2.Seed Selection</a:t>
          </a:r>
          <a:endParaRPr lang="zh-CN" alt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E5E57A1-06BC-40C0-A332-72223A324F7A}" type="parTrans" cxnId="{D82E0C32-A2DF-4BAD-881F-A8249DCC30F2}">
      <dgm:prSet/>
      <dgm:spPr/>
      <dgm:t>
        <a:bodyPr/>
        <a:lstStyle/>
        <a:p>
          <a:endParaRPr lang="zh-CN" altLang="en-US"/>
        </a:p>
      </dgm:t>
    </dgm:pt>
    <dgm:pt modelId="{4504C0A3-911F-4526-8A2B-B5D14E4A435E}" type="sibTrans" cxnId="{D82E0C32-A2DF-4BAD-881F-A8249DCC30F2}">
      <dgm:prSet/>
      <dgm:spPr/>
      <dgm:t>
        <a:bodyPr/>
        <a:lstStyle/>
        <a:p>
          <a:endParaRPr lang="zh-CN" altLang="en-US"/>
        </a:p>
      </dgm:t>
    </dgm:pt>
    <dgm:pt modelId="{91356A33-84CC-4AF2-8164-D54A4056240D}">
      <dgm:prSet phldrT="[文本]"/>
      <dgm:spPr/>
      <dgm:t>
        <a:bodyPr/>
        <a:lstStyle/>
        <a:p>
          <a:r>
            <a: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5.Shadow Removal</a:t>
          </a:r>
          <a:endParaRPr lang="zh-CN" alt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88897CA-C155-4A88-B20D-3680295680BD}" type="parTrans" cxnId="{863CA68F-AA36-4E06-8826-CE14770A756A}">
      <dgm:prSet/>
      <dgm:spPr/>
      <dgm:t>
        <a:bodyPr/>
        <a:lstStyle/>
        <a:p>
          <a:endParaRPr lang="zh-CN" altLang="en-US"/>
        </a:p>
      </dgm:t>
    </dgm:pt>
    <dgm:pt modelId="{F9C2238E-8145-47C5-BF28-7B67E93A1CC0}" type="sibTrans" cxnId="{863CA68F-AA36-4E06-8826-CE14770A756A}">
      <dgm:prSet/>
      <dgm:spPr/>
      <dgm:t>
        <a:bodyPr/>
        <a:lstStyle/>
        <a:p>
          <a:endParaRPr lang="zh-CN" altLang="en-US"/>
        </a:p>
      </dgm:t>
    </dgm:pt>
    <dgm:pt modelId="{CD4F9C57-C046-4BAB-B670-8D3D4C42E448}" type="pres">
      <dgm:prSet presAssocID="{65C3268D-D47B-4970-8128-85AD8508620E}" presName="Name0" presStyleCnt="0">
        <dgm:presLayoutVars>
          <dgm:dir/>
          <dgm:resizeHandles val="exact"/>
        </dgm:presLayoutVars>
      </dgm:prSet>
      <dgm:spPr/>
    </dgm:pt>
    <dgm:pt modelId="{B319F780-9B1B-4874-BB19-C3D3F950FC5A}" type="pres">
      <dgm:prSet presAssocID="{74A73AE1-74B3-46B6-AFDC-032756FD722A}" presName="node" presStyleLbl="node1" presStyleIdx="0" presStyleCnt="5">
        <dgm:presLayoutVars>
          <dgm:bulletEnabled val="1"/>
        </dgm:presLayoutVars>
      </dgm:prSet>
      <dgm:spPr/>
    </dgm:pt>
    <dgm:pt modelId="{E5B86E7D-B28B-4F3E-87BA-9CA752516D94}" type="pres">
      <dgm:prSet presAssocID="{C51562B9-75E6-4B25-816C-DCA10D9A72A5}" presName="sibTrans" presStyleLbl="sibTrans2D1" presStyleIdx="0" presStyleCnt="4"/>
      <dgm:spPr/>
    </dgm:pt>
    <dgm:pt modelId="{9CBDF3FE-8C30-42BD-B064-69100A47C16A}" type="pres">
      <dgm:prSet presAssocID="{C51562B9-75E6-4B25-816C-DCA10D9A72A5}" presName="connectorText" presStyleLbl="sibTrans2D1" presStyleIdx="0" presStyleCnt="4"/>
      <dgm:spPr/>
    </dgm:pt>
    <dgm:pt modelId="{DE3942F9-8666-47B5-BDBE-81AF49C17CBD}" type="pres">
      <dgm:prSet presAssocID="{1F35C959-AFA8-4881-A7F9-F507549176FD}" presName="node" presStyleLbl="node1" presStyleIdx="1" presStyleCnt="5">
        <dgm:presLayoutVars>
          <dgm:bulletEnabled val="1"/>
        </dgm:presLayoutVars>
      </dgm:prSet>
      <dgm:spPr/>
    </dgm:pt>
    <dgm:pt modelId="{5623C7A3-725E-4C19-91EF-8DEEAB4B15F2}" type="pres">
      <dgm:prSet presAssocID="{4504C0A3-911F-4526-8A2B-B5D14E4A435E}" presName="sibTrans" presStyleLbl="sibTrans2D1" presStyleIdx="1" presStyleCnt="4"/>
      <dgm:spPr/>
    </dgm:pt>
    <dgm:pt modelId="{EB4C96FC-580E-4B38-AE03-61805DC2B654}" type="pres">
      <dgm:prSet presAssocID="{4504C0A3-911F-4526-8A2B-B5D14E4A435E}" presName="connectorText" presStyleLbl="sibTrans2D1" presStyleIdx="1" presStyleCnt="4"/>
      <dgm:spPr/>
    </dgm:pt>
    <dgm:pt modelId="{A81F8AEC-959D-4B65-9C1F-1650C2074945}" type="pres">
      <dgm:prSet presAssocID="{BA362246-16A6-49E9-8DF3-18F5F8844961}" presName="node" presStyleLbl="node1" presStyleIdx="2" presStyleCnt="5">
        <dgm:presLayoutVars>
          <dgm:bulletEnabled val="1"/>
        </dgm:presLayoutVars>
      </dgm:prSet>
      <dgm:spPr/>
    </dgm:pt>
    <dgm:pt modelId="{4623DA0F-A934-4333-A0EC-7663DB1C1A07}" type="pres">
      <dgm:prSet presAssocID="{E4DBD8DE-CD64-48EF-8079-4E2086EF72E6}" presName="sibTrans" presStyleLbl="sibTrans2D1" presStyleIdx="2" presStyleCnt="4"/>
      <dgm:spPr/>
    </dgm:pt>
    <dgm:pt modelId="{A7EC0A8A-C036-4D54-9FD8-F6A3A99239D7}" type="pres">
      <dgm:prSet presAssocID="{E4DBD8DE-CD64-48EF-8079-4E2086EF72E6}" presName="connectorText" presStyleLbl="sibTrans2D1" presStyleIdx="2" presStyleCnt="4"/>
      <dgm:spPr/>
    </dgm:pt>
    <dgm:pt modelId="{DF50B8EA-1A3B-4D47-9850-343D40107633}" type="pres">
      <dgm:prSet presAssocID="{E408010C-E6CF-4A15-8B1D-A78BA9237893}" presName="node" presStyleLbl="node1" presStyleIdx="3" presStyleCnt="5">
        <dgm:presLayoutVars>
          <dgm:bulletEnabled val="1"/>
        </dgm:presLayoutVars>
      </dgm:prSet>
      <dgm:spPr/>
    </dgm:pt>
    <dgm:pt modelId="{B59B4485-5FA3-42E8-8FC8-95DF7CF0AEF7}" type="pres">
      <dgm:prSet presAssocID="{15E3E6F5-5A16-4385-83B4-7EC2866AF064}" presName="sibTrans" presStyleLbl="sibTrans2D1" presStyleIdx="3" presStyleCnt="4"/>
      <dgm:spPr/>
    </dgm:pt>
    <dgm:pt modelId="{C940144A-5FE4-410E-8C9F-12C6F5BE3FF6}" type="pres">
      <dgm:prSet presAssocID="{15E3E6F5-5A16-4385-83B4-7EC2866AF064}" presName="connectorText" presStyleLbl="sibTrans2D1" presStyleIdx="3" presStyleCnt="4"/>
      <dgm:spPr/>
    </dgm:pt>
    <dgm:pt modelId="{F803CE20-3E54-4AB8-B4F6-4AD78503209C}" type="pres">
      <dgm:prSet presAssocID="{91356A33-84CC-4AF2-8164-D54A4056240D}" presName="node" presStyleLbl="node1" presStyleIdx="4" presStyleCnt="5">
        <dgm:presLayoutVars>
          <dgm:bulletEnabled val="1"/>
        </dgm:presLayoutVars>
      </dgm:prSet>
      <dgm:spPr/>
    </dgm:pt>
  </dgm:ptLst>
  <dgm:cxnLst>
    <dgm:cxn modelId="{9F93AA12-41CD-4937-A699-04F70EACEA38}" type="presOf" srcId="{E4DBD8DE-CD64-48EF-8079-4E2086EF72E6}" destId="{4623DA0F-A934-4333-A0EC-7663DB1C1A07}" srcOrd="0" destOrd="0" presId="urn:microsoft.com/office/officeart/2005/8/layout/process1"/>
    <dgm:cxn modelId="{92749622-4523-4E6A-B1F2-7ECB43776552}" srcId="{65C3268D-D47B-4970-8128-85AD8508620E}" destId="{74A73AE1-74B3-46B6-AFDC-032756FD722A}" srcOrd="0" destOrd="0" parTransId="{B3A159D5-3A05-48CF-AA60-903A1796D7A9}" sibTransId="{C51562B9-75E6-4B25-816C-DCA10D9A72A5}"/>
    <dgm:cxn modelId="{70101430-9008-4E18-9E50-00AEE6508714}" type="presOf" srcId="{C51562B9-75E6-4B25-816C-DCA10D9A72A5}" destId="{E5B86E7D-B28B-4F3E-87BA-9CA752516D94}" srcOrd="0" destOrd="0" presId="urn:microsoft.com/office/officeart/2005/8/layout/process1"/>
    <dgm:cxn modelId="{D82E0C32-A2DF-4BAD-881F-A8249DCC30F2}" srcId="{65C3268D-D47B-4970-8128-85AD8508620E}" destId="{1F35C959-AFA8-4881-A7F9-F507549176FD}" srcOrd="1" destOrd="0" parTransId="{AE5E57A1-06BC-40C0-A332-72223A324F7A}" sibTransId="{4504C0A3-911F-4526-8A2B-B5D14E4A435E}"/>
    <dgm:cxn modelId="{DBCF173B-5AE9-4A69-AB24-DB6D145DB05F}" type="presOf" srcId="{15E3E6F5-5A16-4385-83B4-7EC2866AF064}" destId="{C940144A-5FE4-410E-8C9F-12C6F5BE3FF6}" srcOrd="1" destOrd="0" presId="urn:microsoft.com/office/officeart/2005/8/layout/process1"/>
    <dgm:cxn modelId="{B69B0E62-BB7D-4B55-99BB-6F11353742C3}" type="presOf" srcId="{74A73AE1-74B3-46B6-AFDC-032756FD722A}" destId="{B319F780-9B1B-4874-BB19-C3D3F950FC5A}" srcOrd="0" destOrd="0" presId="urn:microsoft.com/office/officeart/2005/8/layout/process1"/>
    <dgm:cxn modelId="{20DB1A67-071E-4A4B-AC9F-35F2D5941B74}" type="presOf" srcId="{E408010C-E6CF-4A15-8B1D-A78BA9237893}" destId="{DF50B8EA-1A3B-4D47-9850-343D40107633}" srcOrd="0" destOrd="0" presId="urn:microsoft.com/office/officeart/2005/8/layout/process1"/>
    <dgm:cxn modelId="{0D7C8D69-AB96-4B9E-B0CC-8C14B6FB083B}" type="presOf" srcId="{4504C0A3-911F-4526-8A2B-B5D14E4A435E}" destId="{EB4C96FC-580E-4B38-AE03-61805DC2B654}" srcOrd="1" destOrd="0" presId="urn:microsoft.com/office/officeart/2005/8/layout/process1"/>
    <dgm:cxn modelId="{298BE169-BAAE-4B9D-B33A-FCCC8CE16D1E}" type="presOf" srcId="{4504C0A3-911F-4526-8A2B-B5D14E4A435E}" destId="{5623C7A3-725E-4C19-91EF-8DEEAB4B15F2}" srcOrd="0" destOrd="0" presId="urn:microsoft.com/office/officeart/2005/8/layout/process1"/>
    <dgm:cxn modelId="{E7DA7056-9FA2-4F70-B642-43D9BBBD6547}" type="presOf" srcId="{91356A33-84CC-4AF2-8164-D54A4056240D}" destId="{F803CE20-3E54-4AB8-B4F6-4AD78503209C}" srcOrd="0" destOrd="0" presId="urn:microsoft.com/office/officeart/2005/8/layout/process1"/>
    <dgm:cxn modelId="{2C30CE57-BFEA-4E76-BF8D-CED7B1A38D53}" type="presOf" srcId="{65C3268D-D47B-4970-8128-85AD8508620E}" destId="{CD4F9C57-C046-4BAB-B670-8D3D4C42E448}" srcOrd="0" destOrd="0" presId="urn:microsoft.com/office/officeart/2005/8/layout/process1"/>
    <dgm:cxn modelId="{EF7EA458-651E-4578-8D02-14E15F9358E4}" type="presOf" srcId="{C51562B9-75E6-4B25-816C-DCA10D9A72A5}" destId="{9CBDF3FE-8C30-42BD-B064-69100A47C16A}" srcOrd="1" destOrd="0" presId="urn:microsoft.com/office/officeart/2005/8/layout/process1"/>
    <dgm:cxn modelId="{BBF1B57B-8127-4200-A651-499A7191F412}" srcId="{65C3268D-D47B-4970-8128-85AD8508620E}" destId="{BA362246-16A6-49E9-8DF3-18F5F8844961}" srcOrd="2" destOrd="0" parTransId="{73943D7D-4094-4BC0-BFFC-20D3CF19743C}" sibTransId="{E4DBD8DE-CD64-48EF-8079-4E2086EF72E6}"/>
    <dgm:cxn modelId="{8E017E81-5EDE-418F-B859-B46A1D8CD56E}" type="presOf" srcId="{1F35C959-AFA8-4881-A7F9-F507549176FD}" destId="{DE3942F9-8666-47B5-BDBE-81AF49C17CBD}" srcOrd="0" destOrd="0" presId="urn:microsoft.com/office/officeart/2005/8/layout/process1"/>
    <dgm:cxn modelId="{DC8AED82-14EF-48CD-A1C5-4B844820893A}" type="presOf" srcId="{15E3E6F5-5A16-4385-83B4-7EC2866AF064}" destId="{B59B4485-5FA3-42E8-8FC8-95DF7CF0AEF7}" srcOrd="0" destOrd="0" presId="urn:microsoft.com/office/officeart/2005/8/layout/process1"/>
    <dgm:cxn modelId="{863CA68F-AA36-4E06-8826-CE14770A756A}" srcId="{65C3268D-D47B-4970-8128-85AD8508620E}" destId="{91356A33-84CC-4AF2-8164-D54A4056240D}" srcOrd="4" destOrd="0" parTransId="{488897CA-C155-4A88-B20D-3680295680BD}" sibTransId="{F9C2238E-8145-47C5-BF28-7B67E93A1CC0}"/>
    <dgm:cxn modelId="{78D315C2-319D-454A-85E4-A85AEE6784E1}" type="presOf" srcId="{BA362246-16A6-49E9-8DF3-18F5F8844961}" destId="{A81F8AEC-959D-4B65-9C1F-1650C2074945}" srcOrd="0" destOrd="0" presId="urn:microsoft.com/office/officeart/2005/8/layout/process1"/>
    <dgm:cxn modelId="{A09912E4-9126-44B0-9D17-DD952E806B5F}" type="presOf" srcId="{E4DBD8DE-CD64-48EF-8079-4E2086EF72E6}" destId="{A7EC0A8A-C036-4D54-9FD8-F6A3A99239D7}" srcOrd="1" destOrd="0" presId="urn:microsoft.com/office/officeart/2005/8/layout/process1"/>
    <dgm:cxn modelId="{4DFDFAF3-107B-4C86-9BEF-F908B7178CF9}" srcId="{65C3268D-D47B-4970-8128-85AD8508620E}" destId="{E408010C-E6CF-4A15-8B1D-A78BA9237893}" srcOrd="3" destOrd="0" parTransId="{FB2C767E-E4E6-43C5-81DD-EF3E89333D2C}" sibTransId="{15E3E6F5-5A16-4385-83B4-7EC2866AF064}"/>
    <dgm:cxn modelId="{6F897FE1-1270-4194-8274-C271304DF386}" type="presParOf" srcId="{CD4F9C57-C046-4BAB-B670-8D3D4C42E448}" destId="{B319F780-9B1B-4874-BB19-C3D3F950FC5A}" srcOrd="0" destOrd="0" presId="urn:microsoft.com/office/officeart/2005/8/layout/process1"/>
    <dgm:cxn modelId="{5C491A49-F77B-403C-AD07-BFE819BDD96F}" type="presParOf" srcId="{CD4F9C57-C046-4BAB-B670-8D3D4C42E448}" destId="{E5B86E7D-B28B-4F3E-87BA-9CA752516D94}" srcOrd="1" destOrd="0" presId="urn:microsoft.com/office/officeart/2005/8/layout/process1"/>
    <dgm:cxn modelId="{45F0A9E9-D5A4-48DD-A473-A2A166DE0C8F}" type="presParOf" srcId="{E5B86E7D-B28B-4F3E-87BA-9CA752516D94}" destId="{9CBDF3FE-8C30-42BD-B064-69100A47C16A}" srcOrd="0" destOrd="0" presId="urn:microsoft.com/office/officeart/2005/8/layout/process1"/>
    <dgm:cxn modelId="{22EFF672-3543-4426-AEF0-F82F96AD9070}" type="presParOf" srcId="{CD4F9C57-C046-4BAB-B670-8D3D4C42E448}" destId="{DE3942F9-8666-47B5-BDBE-81AF49C17CBD}" srcOrd="2" destOrd="0" presId="urn:microsoft.com/office/officeart/2005/8/layout/process1"/>
    <dgm:cxn modelId="{5636D8F9-9C9B-4073-839D-4FD0FBEC0334}" type="presParOf" srcId="{CD4F9C57-C046-4BAB-B670-8D3D4C42E448}" destId="{5623C7A3-725E-4C19-91EF-8DEEAB4B15F2}" srcOrd="3" destOrd="0" presId="urn:microsoft.com/office/officeart/2005/8/layout/process1"/>
    <dgm:cxn modelId="{807774B6-AC4C-40ED-BA70-4469E7D1E0A4}" type="presParOf" srcId="{5623C7A3-725E-4C19-91EF-8DEEAB4B15F2}" destId="{EB4C96FC-580E-4B38-AE03-61805DC2B654}" srcOrd="0" destOrd="0" presId="urn:microsoft.com/office/officeart/2005/8/layout/process1"/>
    <dgm:cxn modelId="{3FFF458A-B1A7-4F4C-BF9A-F12FE9E5F125}" type="presParOf" srcId="{CD4F9C57-C046-4BAB-B670-8D3D4C42E448}" destId="{A81F8AEC-959D-4B65-9C1F-1650C2074945}" srcOrd="4" destOrd="0" presId="urn:microsoft.com/office/officeart/2005/8/layout/process1"/>
    <dgm:cxn modelId="{3B19DF12-2695-45F6-BE83-03C591332D20}" type="presParOf" srcId="{CD4F9C57-C046-4BAB-B670-8D3D4C42E448}" destId="{4623DA0F-A934-4333-A0EC-7663DB1C1A07}" srcOrd="5" destOrd="0" presId="urn:microsoft.com/office/officeart/2005/8/layout/process1"/>
    <dgm:cxn modelId="{C7BD40EE-98DE-4227-ADC4-BD6EF88E2CB1}" type="presParOf" srcId="{4623DA0F-A934-4333-A0EC-7663DB1C1A07}" destId="{A7EC0A8A-C036-4D54-9FD8-F6A3A99239D7}" srcOrd="0" destOrd="0" presId="urn:microsoft.com/office/officeart/2005/8/layout/process1"/>
    <dgm:cxn modelId="{69F3042D-416A-4051-837D-051AFB168DB5}" type="presParOf" srcId="{CD4F9C57-C046-4BAB-B670-8D3D4C42E448}" destId="{DF50B8EA-1A3B-4D47-9850-343D40107633}" srcOrd="6" destOrd="0" presId="urn:microsoft.com/office/officeart/2005/8/layout/process1"/>
    <dgm:cxn modelId="{235D9510-9A09-4F4B-B6A0-8AFF99000D23}" type="presParOf" srcId="{CD4F9C57-C046-4BAB-B670-8D3D4C42E448}" destId="{B59B4485-5FA3-42E8-8FC8-95DF7CF0AEF7}" srcOrd="7" destOrd="0" presId="urn:microsoft.com/office/officeart/2005/8/layout/process1"/>
    <dgm:cxn modelId="{8143F951-8981-4BD5-892D-FC24112BF283}" type="presParOf" srcId="{B59B4485-5FA3-42E8-8FC8-95DF7CF0AEF7}" destId="{C940144A-5FE4-410E-8C9F-12C6F5BE3FF6}" srcOrd="0" destOrd="0" presId="urn:microsoft.com/office/officeart/2005/8/layout/process1"/>
    <dgm:cxn modelId="{4B626CA9-1BCB-4410-861F-5EB4A8215D61}" type="presParOf" srcId="{CD4F9C57-C046-4BAB-B670-8D3D4C42E448}" destId="{F803CE20-3E54-4AB8-B4F6-4AD78503209C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9F780-9B1B-4874-BB19-C3D3F950FC5A}">
      <dsp:nvSpPr>
        <dsp:cNvPr id="0" name=""/>
        <dsp:cNvSpPr/>
      </dsp:nvSpPr>
      <dsp:spPr>
        <a:xfrm>
          <a:off x="5130" y="229767"/>
          <a:ext cx="1590465" cy="9542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1.Shadow Detection</a:t>
          </a:r>
          <a:endParaRPr lang="zh-CN" altLang="en-US" sz="2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3080" y="257717"/>
        <a:ext cx="1534565" cy="898379"/>
      </dsp:txXfrm>
    </dsp:sp>
    <dsp:sp modelId="{E5B86E7D-B28B-4F3E-87BA-9CA752516D94}">
      <dsp:nvSpPr>
        <dsp:cNvPr id="0" name=""/>
        <dsp:cNvSpPr/>
      </dsp:nvSpPr>
      <dsp:spPr>
        <a:xfrm>
          <a:off x="1754642" y="509689"/>
          <a:ext cx="337178" cy="3944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1754642" y="588576"/>
        <a:ext cx="236025" cy="236661"/>
      </dsp:txXfrm>
    </dsp:sp>
    <dsp:sp modelId="{DE3942F9-8666-47B5-BDBE-81AF49C17CBD}">
      <dsp:nvSpPr>
        <dsp:cNvPr id="0" name=""/>
        <dsp:cNvSpPr/>
      </dsp:nvSpPr>
      <dsp:spPr>
        <a:xfrm>
          <a:off x="2231782" y="229767"/>
          <a:ext cx="1590465" cy="9542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2.Seed Selection</a:t>
          </a:r>
          <a:endParaRPr lang="zh-CN" altLang="en-US" sz="2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259732" y="257717"/>
        <a:ext cx="1534565" cy="898379"/>
      </dsp:txXfrm>
    </dsp:sp>
    <dsp:sp modelId="{5623C7A3-725E-4C19-91EF-8DEEAB4B15F2}">
      <dsp:nvSpPr>
        <dsp:cNvPr id="0" name=""/>
        <dsp:cNvSpPr/>
      </dsp:nvSpPr>
      <dsp:spPr>
        <a:xfrm>
          <a:off x="3981294" y="509689"/>
          <a:ext cx="337178" cy="3944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3981294" y="588576"/>
        <a:ext cx="236025" cy="236661"/>
      </dsp:txXfrm>
    </dsp:sp>
    <dsp:sp modelId="{A81F8AEC-959D-4B65-9C1F-1650C2074945}">
      <dsp:nvSpPr>
        <dsp:cNvPr id="0" name=""/>
        <dsp:cNvSpPr/>
      </dsp:nvSpPr>
      <dsp:spPr>
        <a:xfrm>
          <a:off x="4458434" y="229767"/>
          <a:ext cx="1590465" cy="9542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3.Region Growing</a:t>
          </a:r>
          <a:endParaRPr lang="zh-CN" altLang="en-US" sz="2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486384" y="257717"/>
        <a:ext cx="1534565" cy="898379"/>
      </dsp:txXfrm>
    </dsp:sp>
    <dsp:sp modelId="{4623DA0F-A934-4333-A0EC-7663DB1C1A07}">
      <dsp:nvSpPr>
        <dsp:cNvPr id="0" name=""/>
        <dsp:cNvSpPr/>
      </dsp:nvSpPr>
      <dsp:spPr>
        <a:xfrm>
          <a:off x="6207946" y="509689"/>
          <a:ext cx="337178" cy="3944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6207946" y="588576"/>
        <a:ext cx="236025" cy="236661"/>
      </dsp:txXfrm>
    </dsp:sp>
    <dsp:sp modelId="{DF50B8EA-1A3B-4D47-9850-343D40107633}">
      <dsp:nvSpPr>
        <dsp:cNvPr id="0" name=""/>
        <dsp:cNvSpPr/>
      </dsp:nvSpPr>
      <dsp:spPr>
        <a:xfrm>
          <a:off x="6685086" y="229767"/>
          <a:ext cx="1590465" cy="9542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4.Boundary Extraction</a:t>
          </a:r>
          <a:endParaRPr lang="zh-CN" altLang="en-US" sz="2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6713036" y="257717"/>
        <a:ext cx="1534565" cy="898379"/>
      </dsp:txXfrm>
    </dsp:sp>
    <dsp:sp modelId="{B59B4485-5FA3-42E8-8FC8-95DF7CF0AEF7}">
      <dsp:nvSpPr>
        <dsp:cNvPr id="0" name=""/>
        <dsp:cNvSpPr/>
      </dsp:nvSpPr>
      <dsp:spPr>
        <a:xfrm>
          <a:off x="8434598" y="509689"/>
          <a:ext cx="337178" cy="3944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8434598" y="588576"/>
        <a:ext cx="236025" cy="236661"/>
      </dsp:txXfrm>
    </dsp:sp>
    <dsp:sp modelId="{F803CE20-3E54-4AB8-B4F6-4AD78503209C}">
      <dsp:nvSpPr>
        <dsp:cNvPr id="0" name=""/>
        <dsp:cNvSpPr/>
      </dsp:nvSpPr>
      <dsp:spPr>
        <a:xfrm>
          <a:off x="8911737" y="229767"/>
          <a:ext cx="1590465" cy="9542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5.Shadow Removal</a:t>
          </a:r>
          <a:endParaRPr lang="zh-CN" altLang="en-US" sz="2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939687" y="257717"/>
        <a:ext cx="1534565" cy="8983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0F083-6108-4243-A388-DDB13CB06986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31F93-DC01-482F-AB5B-F81885DA7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931" y="3066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616868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gradFill>
          <a:gsLst>
            <a:gs pos="100000">
              <a:srgbClr val="7F0020"/>
            </a:gs>
            <a:gs pos="0">
              <a:srgbClr val="D74034"/>
            </a:gs>
            <a:gs pos="30000">
              <a:srgbClr val="C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80992"/>
            <a:ext cx="10515600" cy="1296015"/>
          </a:xfrm>
        </p:spPr>
        <p:txBody>
          <a:bodyPr anchor="b">
            <a:noAutofit/>
          </a:bodyPr>
          <a:lstStyle>
            <a:lvl1pPr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313"/>
          <a:stretch>
            <a:fillRect/>
          </a:stretch>
        </p:blipFill>
        <p:spPr>
          <a:xfrm>
            <a:off x="0" y="5069225"/>
            <a:ext cx="12192000" cy="179830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182508"/>
            <a:ext cx="2772075" cy="762828"/>
          </a:xfrm>
          <a:prstGeom prst="rect">
            <a:avLst/>
          </a:prstGeom>
        </p:spPr>
      </p:pic>
      <p:sp>
        <p:nvSpPr>
          <p:cNvPr id="10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纹 + 校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6812" y="325447"/>
            <a:ext cx="2810614" cy="752510"/>
          </a:xfrm>
          <a:prstGeom prst="rect">
            <a:avLst/>
          </a:prstGeom>
        </p:spPr>
      </p:pic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含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63600" y="1579654"/>
            <a:ext cx="10309225" cy="46466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549169" y="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信息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accent1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等腰三角形 2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478543" y="0"/>
            <a:ext cx="10515600" cy="13108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物质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2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7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zh-CN" alt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生命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3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1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等腰三角形 3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管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4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890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艺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5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科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2" y="182507"/>
            <a:ext cx="8216283" cy="759735"/>
          </a:xfrm>
          <a:solidFill>
            <a:srgbClr val="014099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1" y="1013101"/>
            <a:ext cx="12192001" cy="5844899"/>
            <a:chOff x="-1" y="1092199"/>
            <a:chExt cx="12192001" cy="5765801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" y="1092199"/>
              <a:ext cx="12192001" cy="5765801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1092199"/>
              <a:ext cx="12192000" cy="5765801"/>
            </a:xfrm>
            <a:prstGeom prst="rect">
              <a:avLst/>
            </a:prstGeom>
            <a:solidFill>
              <a:schemeClr val="bg1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 userDrawn="1"/>
        </p:nvSpPr>
        <p:spPr>
          <a:xfrm>
            <a:off x="0" y="955951"/>
            <a:ext cx="12192000" cy="156384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 userDrawn="1"/>
        </p:nvSpPr>
        <p:spPr>
          <a:xfrm>
            <a:off x="0" y="72341"/>
            <a:ext cx="139700" cy="83563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206657"/>
            <a:ext cx="2603500" cy="7013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4B51F-5022-4B9A-B1DC-58E2D82F8E58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A1DFDC3-8CBB-4ECF-95EC-BABF09A9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3456"/>
            <a:ext cx="10056779" cy="2533552"/>
          </a:xfrm>
        </p:spPr>
        <p:txBody>
          <a:bodyPr/>
          <a:lstStyle/>
          <a:p>
            <a:r>
              <a:rPr lang="en-US" altLang="zh-C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User-Assisted Shadow Detection and Removal Algorithm </a:t>
            </a:r>
            <a:b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</a:t>
            </a:r>
            <a:b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Thresholding and Region Growing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838B976-C8B3-4982-8998-76E5F9A5D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Yining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Jiang,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Zhaojun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Ni, Lanxuan Zhang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School of Information Science and Technology,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Shanghaitech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University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2025.1.13 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6F8D26-B507-4412-89C4-7BD53FCA8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06" y="1180231"/>
            <a:ext cx="7191757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40006"/>
              </a:buClr>
              <a:buSzTx/>
              <a:buFont typeface="Wingdings" panose="05000000000000000000" pitchFamily="2" charset="2"/>
              <a:buChar char="n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40004"/>
              </a:buClr>
              <a:buFont typeface="Wingdings" panose="05000000000000000000" pitchFamily="2" charset="2"/>
              <a:buChar char="Ø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Shadows affect object recognition and scene understanding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40004"/>
              </a:buClr>
              <a:buFont typeface="Wingdings" panose="05000000000000000000" pitchFamily="2" charset="2"/>
              <a:buChar char="Ø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Difficulties in separating objects from their shadows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40004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 approach needs extensive computational resources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40004"/>
              </a:buClr>
              <a:buFont typeface="Wingdings" panose="05000000000000000000" pitchFamily="2" charset="2"/>
              <a:buChar char="Ø"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40006"/>
              </a:buClr>
              <a:buFont typeface="Wingdings" panose="05000000000000000000" pitchFamily="2" charset="2"/>
              <a:buChar char="n"/>
            </a:pPr>
            <a:r>
              <a:rPr lang="en-US" altLang="zh-CN" sz="2400" b="1" i="0" dirty="0">
                <a:effectLst/>
                <a:latin typeface="Inter"/>
              </a:rPr>
              <a:t>Methods We've Learned &amp; Applied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40004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(Lec08) </a:t>
            </a:r>
            <a:r>
              <a:rPr lang="zh-CN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YCbCr color space analysis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40004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(Lec10) Thresholding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40004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(Lec10) S</a:t>
            </a:r>
            <a:r>
              <a:rPr lang="zh-CN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eeded region growing (SRG)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40004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(Lec08) Morphological Image Processing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A40004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(Lec06) </a:t>
            </a:r>
            <a:r>
              <a:rPr lang="zh-CN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Gaussian filtering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B29DB0-26AD-481D-8EF1-53B97FABB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415" y="1529069"/>
            <a:ext cx="1865403" cy="1048123"/>
          </a:xfrm>
          <a:prstGeom prst="rect">
            <a:avLst/>
          </a:prstGeom>
        </p:spPr>
      </p:pic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0EBE42CC-9313-4316-A410-D04C92CC7B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7738003"/>
              </p:ext>
            </p:extLst>
          </p:nvPr>
        </p:nvGraphicFramePr>
        <p:xfrm>
          <a:off x="966765" y="4764406"/>
          <a:ext cx="10507334" cy="1413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57D330C5-A53E-4533-9E50-D2C523628C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8440" y="1979241"/>
            <a:ext cx="685800" cy="685800"/>
          </a:xfrm>
          <a:prstGeom prst="rect">
            <a:avLst/>
          </a:prstGeom>
        </p:spPr>
      </p:pic>
      <p:sp>
        <p:nvSpPr>
          <p:cNvPr id="20" name="云形 19">
            <a:extLst>
              <a:ext uri="{FF2B5EF4-FFF2-40B4-BE49-F238E27FC236}">
                <a16:creationId xmlns:a16="http://schemas.microsoft.com/office/drawing/2014/main" id="{4B28ABF3-E3F8-4251-A540-EAFA9F824875}"/>
              </a:ext>
            </a:extLst>
          </p:cNvPr>
          <p:cNvSpPr/>
          <p:nvPr/>
        </p:nvSpPr>
        <p:spPr>
          <a:xfrm>
            <a:off x="9766542" y="1468562"/>
            <a:ext cx="1409133" cy="470803"/>
          </a:xfrm>
          <a:prstGeom prst="cloud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DL + GPU</a:t>
            </a:r>
            <a:endParaRPr lang="zh-CN" altLang="en-US" sz="1100" b="1" dirty="0">
              <a:solidFill>
                <a:schemeClr val="tx1"/>
              </a:solidFill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48C22B0-8678-4BCE-AB22-1A314828A301}"/>
              </a:ext>
            </a:extLst>
          </p:cNvPr>
          <p:cNvGrpSpPr/>
          <p:nvPr/>
        </p:nvGrpSpPr>
        <p:grpSpPr>
          <a:xfrm>
            <a:off x="7004718" y="3045799"/>
            <a:ext cx="4369631" cy="1395671"/>
            <a:chOff x="7645274" y="3231590"/>
            <a:chExt cx="4369631" cy="1395671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F1152653-99ED-46D0-9E73-9F854FFB9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988996" y="3941461"/>
              <a:ext cx="685800" cy="685800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63AE93C3-6C82-4590-875A-D7D99DCD3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645274" y="3465387"/>
              <a:ext cx="1340719" cy="1155301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8BB1F420-E861-4450-8942-6EF2AF521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100222" y="3274151"/>
              <a:ext cx="1057275" cy="1314698"/>
            </a:xfrm>
            <a:prstGeom prst="rect">
              <a:avLst/>
            </a:prstGeom>
          </p:spPr>
        </p:pic>
        <p:sp>
          <p:nvSpPr>
            <p:cNvPr id="22" name="云形 21">
              <a:extLst>
                <a:ext uri="{FF2B5EF4-FFF2-40B4-BE49-F238E27FC236}">
                  <a16:creationId xmlns:a16="http://schemas.microsoft.com/office/drawing/2014/main" id="{81DCB73F-8504-4B67-93EC-084643301377}"/>
                </a:ext>
              </a:extLst>
            </p:cNvPr>
            <p:cNvSpPr/>
            <p:nvPr/>
          </p:nvSpPr>
          <p:spPr>
            <a:xfrm>
              <a:off x="10284430" y="3231590"/>
              <a:ext cx="1730475" cy="685800"/>
            </a:xfrm>
            <a:prstGeom prst="cloud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100" b="1" dirty="0">
                  <a:solidFill>
                    <a:schemeClr val="tx1"/>
                  </a:solidFill>
                </a:rPr>
                <a:t>User+ Simple Algorithms  </a:t>
              </a:r>
              <a:endParaRPr lang="zh-CN" altLang="en-US" sz="11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DADB904F-132A-4379-B46D-E7B5BA7D11D3}"/>
              </a:ext>
            </a:extLst>
          </p:cNvPr>
          <p:cNvSpPr txBox="1"/>
          <p:nvPr/>
        </p:nvSpPr>
        <p:spPr>
          <a:xfrm>
            <a:off x="4468746" y="6101047"/>
            <a:ext cx="3876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 Pipeline</a:t>
            </a:r>
            <a:endParaRPr lang="zh-CN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Shadow Detection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38A23DB-CAD6-493F-96FA-2E286B3ED4C2}"/>
                  </a:ext>
                </a:extLst>
              </p:cNvPr>
              <p:cNvSpPr txBox="1"/>
              <p:nvPr/>
            </p:nvSpPr>
            <p:spPr>
              <a:xfrm>
                <a:off x="7654496" y="3897606"/>
                <a:ext cx="2404761" cy="3689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𝑇h𝑟𝑒𝑠h𝑜𝑙𝑑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𝑅𝑎𝑡𝑖𝑜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38A23DB-CAD6-493F-96FA-2E286B3ED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96" y="3897606"/>
                <a:ext cx="2404761" cy="368947"/>
              </a:xfrm>
              <a:prstGeom prst="rect">
                <a:avLst/>
              </a:prstGeom>
              <a:blipFill>
                <a:blip r:embed="rId2"/>
                <a:stretch>
                  <a:fillRect l="-3553" r="-1523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C1E777A-3003-4C7B-885E-8ADDE9692EE5}"/>
                  </a:ext>
                </a:extLst>
              </p:cNvPr>
              <p:cNvSpPr txBox="1"/>
              <p:nvPr/>
            </p:nvSpPr>
            <p:spPr>
              <a:xfrm>
                <a:off x="7654496" y="4399093"/>
                <a:ext cx="330616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𝑆h𝑎𝑑𝑜𝑤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𝑀𝑎𝑠𝑘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𝑇h𝑟𝑒𝑠h𝑜𝑙𝑑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C1E777A-3003-4C7B-885E-8ADDE9692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96" y="4399093"/>
                <a:ext cx="3306161" cy="276999"/>
              </a:xfrm>
              <a:prstGeom prst="rect">
                <a:avLst/>
              </a:prstGeom>
              <a:blipFill>
                <a:blip r:embed="rId3"/>
                <a:stretch>
                  <a:fillRect l="-1107" r="-1107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DE13D87F-AA96-4AE8-AF75-5A71D2195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654" y="1575592"/>
                <a:ext cx="10665123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marR="0" lvl="0" indent="-4572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A40004"/>
                  </a:buClr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a. 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Convert RGB image to YCbCr color space</a:t>
                </a:r>
              </a:p>
              <a:p>
                <a:pPr marL="457200" marR="0" lvl="0" indent="-4572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A40004"/>
                  </a:buClr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lang="en-US" altLang="zh-C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b. Calculate mean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 and standard deviation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CN" sz="24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lang="en-US" altLang="zh-C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 the </a:t>
                </a:r>
                <a:r>
                  <a:rPr lang="zh-CN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luminance (</a:t>
                </a:r>
                <a:r>
                  <a:rPr lang="zh-CN" altLang="zh-CN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Y</a:t>
                </a:r>
                <a:r>
                  <a:rPr lang="zh-CN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channel </a:t>
                </a:r>
                <a:endParaRPr lang="en-US" altLang="zh-CN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A40004"/>
                  </a:buClr>
                  <a:buFont typeface="Wingdings" panose="05000000000000000000" pitchFamily="2" charset="2"/>
                  <a:buChar char="Ø"/>
                </a:pP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c. 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Apply thresholding to detect shadow regions</a:t>
                </a:r>
              </a:p>
            </p:txBody>
          </p:sp>
        </mc:Choice>
        <mc:Fallback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DE13D87F-AA96-4AE8-AF75-5A71D2195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654" y="1575592"/>
                <a:ext cx="10665123" cy="1200329"/>
              </a:xfrm>
              <a:prstGeom prst="rect">
                <a:avLst/>
              </a:prstGeom>
              <a:blipFill>
                <a:blip r:embed="rId4"/>
                <a:stretch>
                  <a:fillRect l="-743" t="-3553" r="-800" b="-1116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C238645C-F25D-4CCF-82AB-D60B07E240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43" y="3442355"/>
            <a:ext cx="3028160" cy="25072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889A9D0-2107-42D3-A208-E8A035B7E0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103" y="3442355"/>
            <a:ext cx="3028160" cy="250728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E5D85B-09B5-4DE9-B44C-CD14CE2B958A}"/>
              </a:ext>
            </a:extLst>
          </p:cNvPr>
          <p:cNvSpPr txBox="1"/>
          <p:nvPr/>
        </p:nvSpPr>
        <p:spPr>
          <a:xfrm>
            <a:off x="7551185" y="5097742"/>
            <a:ext cx="401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*Ratio is a user-tunable parameter.</a:t>
            </a:r>
            <a:endParaRPr lang="zh-CN" altLang="en-US" b="1" i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401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Seed Selection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711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3. Region Growing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B98A97-CD20-44CF-9A2C-4BE2EB547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38" y="3092048"/>
            <a:ext cx="419668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seed point selection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User-defined points via MATLAB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 ginput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Iterative region growing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Combines regions from all seed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Improves shadow mask accuracy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26379F-F26B-4D16-B1E4-EF6DE7A36A61}"/>
              </a:ext>
            </a:extLst>
          </p:cNvPr>
          <p:cNvSpPr txBox="1"/>
          <p:nvPr/>
        </p:nvSpPr>
        <p:spPr>
          <a:xfrm>
            <a:off x="5171884" y="3566484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Seed point selection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gui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DCBD06-7517-4038-9C6A-A7476D32AC92}"/>
              </a:ext>
            </a:extLst>
          </p:cNvPr>
          <p:cNvSpPr txBox="1"/>
          <p:nvPr/>
        </p:nvSpPr>
        <p:spPr>
          <a:xfrm>
            <a:off x="8498116" y="3542723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Seed point selection result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17BCDD-88C1-4C4F-86AA-FD2976B2D158}"/>
              </a:ext>
            </a:extLst>
          </p:cNvPr>
          <p:cNvSpPr txBox="1"/>
          <p:nvPr/>
        </p:nvSpPr>
        <p:spPr>
          <a:xfrm>
            <a:off x="6692604" y="6130755"/>
            <a:ext cx="2819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Shadow mask after SRG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AC03616-B293-4DED-BCA9-310FFB0A0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192" y="3935816"/>
            <a:ext cx="2741922" cy="225513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C6B04FE-DACE-4C3B-9396-62196CA4A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566" y="1125010"/>
            <a:ext cx="2802690" cy="236312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F917BC0-1643-4C6C-BA6F-E49B3DF6C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750" y="1125010"/>
            <a:ext cx="3423266" cy="255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6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Boundary Extraction and Smoothing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CD23BD-C548-4A67-834F-BA794567B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09" y="1812782"/>
            <a:ext cx="495182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dirty="0"/>
              <a:t>Use </a:t>
            </a:r>
            <a:r>
              <a:rPr lang="en-US" altLang="zh-CN" b="1" dirty="0"/>
              <a:t>morphological erosion</a:t>
            </a:r>
            <a:r>
              <a:rPr lang="en-US" altLang="zh-CN" dirty="0"/>
              <a:t> to shrink the shadow region and isolate the inner boundary.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dirty="0"/>
              <a:t>Apply </a:t>
            </a:r>
            <a:r>
              <a:rPr lang="en-US" altLang="zh-CN" b="1" dirty="0"/>
              <a:t>morphological dilation</a:t>
            </a:r>
            <a:r>
              <a:rPr lang="en-US" altLang="zh-CN" dirty="0"/>
              <a:t> to expand the boundary region, creating a buffer zone for smoothing.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dirty="0"/>
              <a:t>Apply </a:t>
            </a:r>
            <a:r>
              <a:rPr lang="en-US" altLang="zh-CN" b="1" dirty="0"/>
              <a:t>Gaussian filtering</a:t>
            </a:r>
            <a:r>
              <a:rPr lang="en-US" altLang="zh-CN" dirty="0"/>
              <a:t> to the boundary region for gradual luminance transitions.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8899A8-414D-401B-A9DC-C88F65CA9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870" y="1238250"/>
            <a:ext cx="56769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3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Shadow Removal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4C86181-E806-4A41-8200-80239D1AE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656" y="1749271"/>
                <a:ext cx="5120639" cy="2712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Linear Transformation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Adjust pixel values in shadow and boundary regions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Use mean and standard deviation of luminance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Equations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kumimoji="0" lang="en-US" altLang="zh-CN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0" lang="en-US" altLang="zh-CN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zh-CN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altLang="zh-CN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kumimoji="0" lang="en-US" altLang="zh-CN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𝑙𝑖𝑡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𝑠h𝑎𝑑𝑜𝑤</m:t>
                            </m:r>
                          </m:sub>
                        </m:sSub>
                      </m:den>
                    </m:f>
                  </m:oMath>
                </a14:m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𝑐𝑜𝑟𝑟𝑒𝑐𝑡𝑒𝑑</m:t>
                        </m:r>
                      </m:sub>
                    </m:sSub>
                    <m:r>
                      <a:rPr kumimoji="0" lang="zh-CN" altLang="zh-CN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altLang="zh-CN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𝛼</m:t>
                    </m:r>
                    <m:r>
                      <a:rPr kumimoji="0" lang="en-US" altLang="zh-CN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_</m:t>
                    </m:r>
                    <m:r>
                      <a:rPr kumimoji="0" lang="zh-CN" altLang="zh-CN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zh-CN" altLang="zh-CN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kumimoji="0" lang="en-US" altLang="zh-CN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zh-CN" altLang="zh-CN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kumimoji="0" lang="zh-CN" altLang="zh-CN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kumimoji="0" lang="en-US" altLang="zh-CN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kumimoji="0" lang="en-US" altLang="zh-CN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𝑠h𝑎𝑑𝑜𝑤</m:t>
                        </m:r>
                      </m:sub>
                    </m:sSub>
                  </m:oMath>
                </a14:m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Apply Gaussian filtering for seamless transitions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4C86181-E806-4A41-8200-80239D1AEE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9656" y="1749271"/>
                <a:ext cx="5120639" cy="2712346"/>
              </a:xfrm>
              <a:prstGeom prst="rect">
                <a:avLst/>
              </a:prstGeom>
              <a:blipFill>
                <a:blip r:embed="rId2"/>
                <a:stretch>
                  <a:fillRect l="-1071" t="-674" b="-314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C996A618-1961-405A-A3C9-B8E81C413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877" y="1377095"/>
            <a:ext cx="5125432" cy="410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27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Experimental Results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DBF384C-7F13-4266-8611-33073F80A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389" y="1246969"/>
            <a:ext cx="672465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0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F6F6DA-5CF8-4955-BB9A-AF645D86A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649" y="1498743"/>
            <a:ext cx="740270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</a:t>
            </a:r>
            <a:endParaRPr kumimoji="0" lang="zh-CN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Remaining artifacts on sharp/irregular edges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 bias in shadow regions with distinct chromatic properties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Decreased performance in complex scenes with multiple light sources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EEFE7C-7751-4E32-9043-C40CEEB4EB2D}"/>
              </a:ext>
            </a:extLst>
          </p:cNvPr>
          <p:cNvSpPr/>
          <p:nvPr/>
        </p:nvSpPr>
        <p:spPr>
          <a:xfrm>
            <a:off x="2394649" y="3001501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/>
              <a:t>Future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Improved boundary refinement (e.g., guided filtering, adaptive smoothing)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Contextual information (e.g., object segmentation, material properties)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Integration of deep learning approaches (CNNs, GANs)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Application in real-time video processing and advanced image editing</a:t>
            </a:r>
          </a:p>
        </p:txBody>
      </p:sp>
    </p:spTree>
    <p:extLst>
      <p:ext uri="{BB962C8B-B14F-4D97-AF65-F5344CB8AC3E}">
        <p14:creationId xmlns:p14="http://schemas.microsoft.com/office/powerpoint/2010/main" val="2613287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1833" y="161406"/>
            <a:ext cx="8216283" cy="759735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AE4C54-B8DE-4172-A160-C31C08F9E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06" y="2207086"/>
            <a:ext cx="610303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Effective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nteractive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framework combining YCbCr, SRG, and Gaussian filtering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Significant improvement in shadow detection and removal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Provides a solid foundation for further advancements in the field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F142E4-32D8-4134-9E82-E2BE0017B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548" y="1272222"/>
            <a:ext cx="3028160" cy="250728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EA5C1D8-CB70-4CAB-A6FF-43580476D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996" y="3908316"/>
            <a:ext cx="3305263" cy="264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98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3E4595-D1F3-4A79-86C1-F06CF4567F1F}"/>
              </a:ext>
            </a:extLst>
          </p:cNvPr>
          <p:cNvSpPr txBox="1"/>
          <p:nvPr/>
        </p:nvSpPr>
        <p:spPr>
          <a:xfrm>
            <a:off x="492867" y="1342417"/>
            <a:ext cx="1066151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[1] K. Deb and A. H. </a:t>
            </a:r>
            <a:r>
              <a:rPr lang="en-US" altLang="zh-CN" dirty="0" err="1"/>
              <a:t>Suny</a:t>
            </a:r>
            <a:r>
              <a:rPr lang="en-US" altLang="zh-CN" dirty="0"/>
              <a:t>, “Shadow detection and removal based on </a:t>
            </a:r>
            <a:r>
              <a:rPr lang="en-US" altLang="zh-CN" dirty="0" err="1"/>
              <a:t>YCbCr</a:t>
            </a:r>
            <a:r>
              <a:rPr lang="en-US" altLang="zh-CN" dirty="0"/>
              <a:t> color space,” </a:t>
            </a:r>
            <a:r>
              <a:rPr lang="en-US" altLang="zh-CN" dirty="0" err="1"/>
              <a:t>SmartCR</a:t>
            </a:r>
            <a:r>
              <a:rPr lang="en-US" altLang="zh-CN" dirty="0"/>
              <a:t>, vol. 4, no. 1, pp. 23–33, 2014.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 [2] M. Mary </a:t>
            </a:r>
            <a:r>
              <a:rPr lang="en-US" altLang="zh-CN" dirty="0" err="1"/>
              <a:t>Synthuja</a:t>
            </a:r>
            <a:r>
              <a:rPr lang="en-US" altLang="zh-CN" dirty="0"/>
              <a:t> Jain </a:t>
            </a:r>
            <a:r>
              <a:rPr lang="en-US" altLang="zh-CN" dirty="0" err="1"/>
              <a:t>Preetha</a:t>
            </a:r>
            <a:r>
              <a:rPr lang="en-US" altLang="zh-CN" dirty="0"/>
              <a:t>, L. Padma Suresh, and M. John Bosco, “Image segmentation using seeded region growing,” in 2012 International Conference on Computing, Electronics and Electrical Technologies (IC CEET), </a:t>
            </a:r>
            <a:r>
              <a:rPr lang="en-US" altLang="zh-CN" dirty="0" err="1"/>
              <a:t>Nagercoil</a:t>
            </a:r>
            <a:r>
              <a:rPr lang="en-US" altLang="zh-CN" dirty="0"/>
              <a:t>, India, 2012, pp. 576–583.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[3] F. Liu and M. </a:t>
            </a:r>
            <a:r>
              <a:rPr lang="en-US" altLang="zh-CN" dirty="0" err="1"/>
              <a:t>Gleicher</a:t>
            </a:r>
            <a:r>
              <a:rPr lang="en-US" altLang="zh-CN" dirty="0"/>
              <a:t>, “Texture-consistent shadow removal,” in Com </a:t>
            </a:r>
            <a:r>
              <a:rPr lang="en-US" altLang="zh-CN" dirty="0" err="1"/>
              <a:t>puter</a:t>
            </a:r>
            <a:r>
              <a:rPr lang="en-US" altLang="zh-CN" dirty="0"/>
              <a:t> Vision–ECCV 2008: 10th European Conference on Computer Vision, Marseille, France, October 12-18, 2008, Proceedings, Part IV 10, 2008, pp. 437–450.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 [4] Y. Shor and D. </a:t>
            </a:r>
            <a:r>
              <a:rPr lang="en-US" altLang="zh-CN" dirty="0" err="1"/>
              <a:t>Lischinski</a:t>
            </a:r>
            <a:r>
              <a:rPr lang="en-US" altLang="zh-CN" dirty="0"/>
              <a:t>, “The shadow meets the mask: Pyramid-based shadow removal,” in Computer Graphics Forum, vol. 27, no. 2, 2008, pp. 577–586, Wiley Online Library.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 [5] C. Xiao, D. Xiao, L. Zhang, and L. Chen, “Efficient shadow removal using subregion matching illumination transfer,” in Computer Graphics Forum, vol. 32, no. 7, 2013, pp. 421–430, Wiley Online Library.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[6] L. Zhang, Q. Zhang, and C. Xiao, “Shadow remover: Image shadow re </a:t>
            </a:r>
            <a:r>
              <a:rPr lang="en-US" altLang="zh-CN" dirty="0" err="1"/>
              <a:t>moval</a:t>
            </a:r>
            <a:r>
              <a:rPr lang="en-US" altLang="zh-CN" dirty="0"/>
              <a:t> based on illumination recovering optimization,” IEEE Transactions on Image Processing, vol. 24, no. 11, pp. 4623–4636, 2015.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2050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583227D-A867-4CC0-A4DD-55124268A05C}"/>
              </a:ext>
            </a:extLst>
          </p:cNvPr>
          <p:cNvSpPr txBox="1"/>
          <p:nvPr/>
        </p:nvSpPr>
        <p:spPr>
          <a:xfrm>
            <a:off x="1540907" y="2828835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>
                <a:latin typeface="Arial" panose="020B0604020202020204" pitchFamily="34" charset="0"/>
                <a:cs typeface="Arial" panose="020B0604020202020204" pitchFamily="34" charset="0"/>
              </a:rPr>
              <a:t>Thanks for listening</a:t>
            </a:r>
            <a:r>
              <a:rPr lang="zh-CN" altLang="en-US" sz="7200" dirty="0">
                <a:latin typeface="Arial" panose="020B0604020202020204" pitchFamily="34" charset="0"/>
                <a:cs typeface="Arial" panose="020B0604020202020204" pitchFamily="34" charset="0"/>
              </a:rPr>
              <a:t>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ShanghaiTech">
      <a:dk1>
        <a:sysClr val="windowText" lastClr="000000"/>
      </a:dk1>
      <a:lt1>
        <a:sysClr val="window" lastClr="FFFFFF"/>
      </a:lt1>
      <a:dk2>
        <a:srgbClr val="A40006"/>
      </a:dk2>
      <a:lt2>
        <a:srgbClr val="E7E6E6"/>
      </a:lt2>
      <a:accent1>
        <a:srgbClr val="004098"/>
      </a:accent1>
      <a:accent2>
        <a:srgbClr val="009944"/>
      </a:accent2>
      <a:accent3>
        <a:srgbClr val="F39800"/>
      </a:accent3>
      <a:accent4>
        <a:srgbClr val="7E3C93"/>
      </a:accent4>
      <a:accent5>
        <a:srgbClr val="269BC1"/>
      </a:accent5>
      <a:accent6>
        <a:srgbClr val="A40006"/>
      </a:accent6>
      <a:hlink>
        <a:srgbClr val="A40006"/>
      </a:hlink>
      <a:folHlink>
        <a:srgbClr val="A40006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733</Words>
  <Application>Microsoft Office PowerPoint</Application>
  <PresentationFormat>宽屏</PresentationFormat>
  <Paragraphs>79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Inter</vt:lpstr>
      <vt:lpstr>等线</vt:lpstr>
      <vt:lpstr>微软雅黑</vt:lpstr>
      <vt:lpstr>Arial</vt:lpstr>
      <vt:lpstr>Calibri</vt:lpstr>
      <vt:lpstr>Cambria Math</vt:lpstr>
      <vt:lpstr>Wingdings</vt:lpstr>
      <vt:lpstr>Office 主题​​</vt:lpstr>
      <vt:lpstr>User-Assisted Shadow Detection and Removal Algorithm  Based on  Thresholding and Region Growing</vt:lpstr>
      <vt:lpstr>Proposed Solution</vt:lpstr>
      <vt:lpstr>1. Shadow Detection</vt:lpstr>
      <vt:lpstr>2. Seed Selection</vt:lpstr>
      <vt:lpstr>3. Region Growing</vt:lpstr>
      <vt:lpstr>Boundary Extraction and Smoothing</vt:lpstr>
      <vt:lpstr>Shadow Removal</vt:lpstr>
      <vt:lpstr>Experimental Results</vt:lpstr>
      <vt:lpstr>Limitations</vt:lpstr>
      <vt:lpstr>Conclusion</vt:lpstr>
      <vt:lpstr>References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George Yao;Jiahe Shi</dc:creator>
  <cp:lastModifiedBy>Justin Nee</cp:lastModifiedBy>
  <cp:revision>109</cp:revision>
  <dcterms:created xsi:type="dcterms:W3CDTF">2019-02-23T16:09:00Z</dcterms:created>
  <dcterms:modified xsi:type="dcterms:W3CDTF">2025-01-11T14:12:56Z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80B76266CAF048D0B180BD7250798C20</vt:lpwstr>
  </property>
</Properties>
</file>