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451" r:id="rId2"/>
    <p:sldId id="452" r:id="rId3"/>
    <p:sldId id="460" r:id="rId4"/>
    <p:sldId id="461" r:id="rId5"/>
    <p:sldId id="462" r:id="rId6"/>
    <p:sldId id="463" r:id="rId7"/>
    <p:sldId id="464" r:id="rId8"/>
    <p:sldId id="465" r:id="rId9"/>
    <p:sldId id="466" r:id="rId10"/>
    <p:sldId id="467" r:id="rId11"/>
    <p:sldId id="468" r:id="rId12"/>
    <p:sldId id="469" r:id="rId13"/>
    <p:sldId id="45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E00BB"/>
    <a:srgbClr val="003AA3"/>
    <a:srgbClr val="FF4B4B"/>
    <a:srgbClr val="D8B9BA"/>
    <a:srgbClr val="99B3D7"/>
    <a:srgbClr val="DC9D9C"/>
    <a:srgbClr val="2800AE"/>
    <a:srgbClr val="014099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66" autoAdjust="0"/>
    <p:restoredTop sz="94578" autoAdjust="0"/>
  </p:normalViewPr>
  <p:slideViewPr>
    <p:cSldViewPr snapToGrid="0">
      <p:cViewPr>
        <p:scale>
          <a:sx n="66" d="100"/>
          <a:sy n="66" d="100"/>
        </p:scale>
        <p:origin x="2525" y="12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5C3268D-D47B-4970-8128-85AD8508620E}" type="doc">
      <dgm:prSet loTypeId="urn:microsoft.com/office/officeart/2005/8/layout/process1" loCatId="process" qsTypeId="urn:microsoft.com/office/officeart/2005/8/quickstyle/simple1" qsCatId="simple" csTypeId="urn:microsoft.com/office/officeart/2005/8/colors/accent6_1" csCatId="accent6" phldr="1"/>
      <dgm:spPr/>
    </dgm:pt>
    <dgm:pt modelId="{74A73AE1-74B3-46B6-AFDC-032756FD722A}">
      <dgm:prSet phldrT="[文本]"/>
      <dgm:spPr/>
      <dgm:t>
        <a:bodyPr/>
        <a:lstStyle/>
        <a:p>
          <a:r>
            <a:rPr lang="en-US" altLang="zh-CN" dirty="0"/>
            <a:t>Shadow Detection</a:t>
          </a:r>
          <a:endParaRPr lang="zh-CN" altLang="en-US" dirty="0"/>
        </a:p>
      </dgm:t>
    </dgm:pt>
    <dgm:pt modelId="{B3A159D5-3A05-48CF-AA60-903A1796D7A9}" type="parTrans" cxnId="{92749622-4523-4E6A-B1F2-7ECB43776552}">
      <dgm:prSet/>
      <dgm:spPr/>
      <dgm:t>
        <a:bodyPr/>
        <a:lstStyle/>
        <a:p>
          <a:endParaRPr lang="zh-CN" altLang="en-US"/>
        </a:p>
      </dgm:t>
    </dgm:pt>
    <dgm:pt modelId="{C51562B9-75E6-4B25-816C-DCA10D9A72A5}" type="sibTrans" cxnId="{92749622-4523-4E6A-B1F2-7ECB43776552}">
      <dgm:prSet/>
      <dgm:spPr/>
      <dgm:t>
        <a:bodyPr/>
        <a:lstStyle/>
        <a:p>
          <a:endParaRPr lang="zh-CN" altLang="en-US"/>
        </a:p>
      </dgm:t>
    </dgm:pt>
    <dgm:pt modelId="{BA362246-16A6-49E9-8DF3-18F5F8844961}">
      <dgm:prSet phldrT="[文本]"/>
      <dgm:spPr/>
      <dgm:t>
        <a:bodyPr/>
        <a:lstStyle/>
        <a:p>
          <a:r>
            <a:rPr lang="en-US" altLang="zh-CN" dirty="0"/>
            <a:t>Interactive Region Growing</a:t>
          </a:r>
          <a:endParaRPr lang="zh-CN" altLang="en-US" dirty="0"/>
        </a:p>
      </dgm:t>
    </dgm:pt>
    <dgm:pt modelId="{73943D7D-4094-4BC0-BFFC-20D3CF19743C}" type="parTrans" cxnId="{BBF1B57B-8127-4200-A651-499A7191F412}">
      <dgm:prSet/>
      <dgm:spPr/>
      <dgm:t>
        <a:bodyPr/>
        <a:lstStyle/>
        <a:p>
          <a:endParaRPr lang="zh-CN" altLang="en-US"/>
        </a:p>
      </dgm:t>
    </dgm:pt>
    <dgm:pt modelId="{E4DBD8DE-CD64-48EF-8079-4E2086EF72E6}" type="sibTrans" cxnId="{BBF1B57B-8127-4200-A651-499A7191F412}">
      <dgm:prSet/>
      <dgm:spPr/>
      <dgm:t>
        <a:bodyPr/>
        <a:lstStyle/>
        <a:p>
          <a:endParaRPr lang="zh-CN" altLang="en-US"/>
        </a:p>
      </dgm:t>
    </dgm:pt>
    <dgm:pt modelId="{E408010C-E6CF-4A15-8B1D-A78BA9237893}">
      <dgm:prSet phldrT="[文本]"/>
      <dgm:spPr/>
      <dgm:t>
        <a:bodyPr/>
        <a:lstStyle/>
        <a:p>
          <a:r>
            <a:rPr lang="en-US" altLang="zh-CN" dirty="0"/>
            <a:t>Boundary Extraction and Smoothing</a:t>
          </a:r>
          <a:endParaRPr lang="zh-CN" altLang="en-US" dirty="0"/>
        </a:p>
      </dgm:t>
    </dgm:pt>
    <dgm:pt modelId="{FB2C767E-E4E6-43C5-81DD-EF3E89333D2C}" type="parTrans" cxnId="{4DFDFAF3-107B-4C86-9BEF-F908B7178CF9}">
      <dgm:prSet/>
      <dgm:spPr/>
      <dgm:t>
        <a:bodyPr/>
        <a:lstStyle/>
        <a:p>
          <a:endParaRPr lang="zh-CN" altLang="en-US"/>
        </a:p>
      </dgm:t>
    </dgm:pt>
    <dgm:pt modelId="{15E3E6F5-5A16-4385-83B4-7EC2866AF064}" type="sibTrans" cxnId="{4DFDFAF3-107B-4C86-9BEF-F908B7178CF9}">
      <dgm:prSet/>
      <dgm:spPr/>
      <dgm:t>
        <a:bodyPr/>
        <a:lstStyle/>
        <a:p>
          <a:endParaRPr lang="zh-CN" altLang="en-US"/>
        </a:p>
      </dgm:t>
    </dgm:pt>
    <dgm:pt modelId="{2BC43824-FE23-4757-86A5-9900FF18C20A}">
      <dgm:prSet phldrT="[文本]"/>
      <dgm:spPr/>
      <dgm:t>
        <a:bodyPr/>
        <a:lstStyle/>
        <a:p>
          <a:r>
            <a:rPr lang="en-US" altLang="zh-CN" dirty="0"/>
            <a:t>Shadow Removal</a:t>
          </a:r>
          <a:endParaRPr lang="zh-CN" altLang="en-US" dirty="0"/>
        </a:p>
      </dgm:t>
    </dgm:pt>
    <dgm:pt modelId="{019CBE7F-13A8-451F-A2DA-D3A998F7127F}" type="parTrans" cxnId="{D01BD1B0-A9E0-42CA-ADC0-B62AF9CAC0E9}">
      <dgm:prSet/>
      <dgm:spPr/>
      <dgm:t>
        <a:bodyPr/>
        <a:lstStyle/>
        <a:p>
          <a:endParaRPr lang="zh-CN" altLang="en-US"/>
        </a:p>
      </dgm:t>
    </dgm:pt>
    <dgm:pt modelId="{C8E10589-CA6B-45EE-80BC-3A5FBB511700}" type="sibTrans" cxnId="{D01BD1B0-A9E0-42CA-ADC0-B62AF9CAC0E9}">
      <dgm:prSet/>
      <dgm:spPr/>
      <dgm:t>
        <a:bodyPr/>
        <a:lstStyle/>
        <a:p>
          <a:endParaRPr lang="zh-CN" altLang="en-US"/>
        </a:p>
      </dgm:t>
    </dgm:pt>
    <dgm:pt modelId="{CD4F9C57-C046-4BAB-B670-8D3D4C42E448}" type="pres">
      <dgm:prSet presAssocID="{65C3268D-D47B-4970-8128-85AD8508620E}" presName="Name0" presStyleCnt="0">
        <dgm:presLayoutVars>
          <dgm:dir/>
          <dgm:resizeHandles val="exact"/>
        </dgm:presLayoutVars>
      </dgm:prSet>
      <dgm:spPr/>
    </dgm:pt>
    <dgm:pt modelId="{B319F780-9B1B-4874-BB19-C3D3F950FC5A}" type="pres">
      <dgm:prSet presAssocID="{74A73AE1-74B3-46B6-AFDC-032756FD722A}" presName="node" presStyleLbl="node1" presStyleIdx="0" presStyleCnt="4">
        <dgm:presLayoutVars>
          <dgm:bulletEnabled val="1"/>
        </dgm:presLayoutVars>
      </dgm:prSet>
      <dgm:spPr/>
    </dgm:pt>
    <dgm:pt modelId="{E5B86E7D-B28B-4F3E-87BA-9CA752516D94}" type="pres">
      <dgm:prSet presAssocID="{C51562B9-75E6-4B25-816C-DCA10D9A72A5}" presName="sibTrans" presStyleLbl="sibTrans2D1" presStyleIdx="0" presStyleCnt="3"/>
      <dgm:spPr/>
    </dgm:pt>
    <dgm:pt modelId="{9CBDF3FE-8C30-42BD-B064-69100A47C16A}" type="pres">
      <dgm:prSet presAssocID="{C51562B9-75E6-4B25-816C-DCA10D9A72A5}" presName="connectorText" presStyleLbl="sibTrans2D1" presStyleIdx="0" presStyleCnt="3"/>
      <dgm:spPr/>
    </dgm:pt>
    <dgm:pt modelId="{A81F8AEC-959D-4B65-9C1F-1650C2074945}" type="pres">
      <dgm:prSet presAssocID="{BA362246-16A6-49E9-8DF3-18F5F8844961}" presName="node" presStyleLbl="node1" presStyleIdx="1" presStyleCnt="4">
        <dgm:presLayoutVars>
          <dgm:bulletEnabled val="1"/>
        </dgm:presLayoutVars>
      </dgm:prSet>
      <dgm:spPr/>
    </dgm:pt>
    <dgm:pt modelId="{4623DA0F-A934-4333-A0EC-7663DB1C1A07}" type="pres">
      <dgm:prSet presAssocID="{E4DBD8DE-CD64-48EF-8079-4E2086EF72E6}" presName="sibTrans" presStyleLbl="sibTrans2D1" presStyleIdx="1" presStyleCnt="3"/>
      <dgm:spPr/>
    </dgm:pt>
    <dgm:pt modelId="{A7EC0A8A-C036-4D54-9FD8-F6A3A99239D7}" type="pres">
      <dgm:prSet presAssocID="{E4DBD8DE-CD64-48EF-8079-4E2086EF72E6}" presName="connectorText" presStyleLbl="sibTrans2D1" presStyleIdx="1" presStyleCnt="3"/>
      <dgm:spPr/>
    </dgm:pt>
    <dgm:pt modelId="{DF50B8EA-1A3B-4D47-9850-343D40107633}" type="pres">
      <dgm:prSet presAssocID="{E408010C-E6CF-4A15-8B1D-A78BA9237893}" presName="node" presStyleLbl="node1" presStyleIdx="2" presStyleCnt="4">
        <dgm:presLayoutVars>
          <dgm:bulletEnabled val="1"/>
        </dgm:presLayoutVars>
      </dgm:prSet>
      <dgm:spPr/>
    </dgm:pt>
    <dgm:pt modelId="{4E809D3B-2063-4193-92EA-3A5A647EA5B6}" type="pres">
      <dgm:prSet presAssocID="{15E3E6F5-5A16-4385-83B4-7EC2866AF064}" presName="sibTrans" presStyleLbl="sibTrans2D1" presStyleIdx="2" presStyleCnt="3"/>
      <dgm:spPr/>
    </dgm:pt>
    <dgm:pt modelId="{EF4E835D-9FD4-45F7-83C6-EABDEEA10617}" type="pres">
      <dgm:prSet presAssocID="{15E3E6F5-5A16-4385-83B4-7EC2866AF064}" presName="connectorText" presStyleLbl="sibTrans2D1" presStyleIdx="2" presStyleCnt="3"/>
      <dgm:spPr/>
    </dgm:pt>
    <dgm:pt modelId="{922DE008-900C-4C6A-B576-621D3FAFF4E9}" type="pres">
      <dgm:prSet presAssocID="{2BC43824-FE23-4757-86A5-9900FF18C20A}" presName="node" presStyleLbl="node1" presStyleIdx="3" presStyleCnt="4">
        <dgm:presLayoutVars>
          <dgm:bulletEnabled val="1"/>
        </dgm:presLayoutVars>
      </dgm:prSet>
      <dgm:spPr/>
    </dgm:pt>
  </dgm:ptLst>
  <dgm:cxnLst>
    <dgm:cxn modelId="{9F93AA12-41CD-4937-A699-04F70EACEA38}" type="presOf" srcId="{E4DBD8DE-CD64-48EF-8079-4E2086EF72E6}" destId="{4623DA0F-A934-4333-A0EC-7663DB1C1A07}" srcOrd="0" destOrd="0" presId="urn:microsoft.com/office/officeart/2005/8/layout/process1"/>
    <dgm:cxn modelId="{92749622-4523-4E6A-B1F2-7ECB43776552}" srcId="{65C3268D-D47B-4970-8128-85AD8508620E}" destId="{74A73AE1-74B3-46B6-AFDC-032756FD722A}" srcOrd="0" destOrd="0" parTransId="{B3A159D5-3A05-48CF-AA60-903A1796D7A9}" sibTransId="{C51562B9-75E6-4B25-816C-DCA10D9A72A5}"/>
    <dgm:cxn modelId="{6C43F623-4D92-43C2-B44B-9B70A639F089}" type="presOf" srcId="{2BC43824-FE23-4757-86A5-9900FF18C20A}" destId="{922DE008-900C-4C6A-B576-621D3FAFF4E9}" srcOrd="0" destOrd="0" presId="urn:microsoft.com/office/officeart/2005/8/layout/process1"/>
    <dgm:cxn modelId="{70101430-9008-4E18-9E50-00AEE6508714}" type="presOf" srcId="{C51562B9-75E6-4B25-816C-DCA10D9A72A5}" destId="{E5B86E7D-B28B-4F3E-87BA-9CA752516D94}" srcOrd="0" destOrd="0" presId="urn:microsoft.com/office/officeart/2005/8/layout/process1"/>
    <dgm:cxn modelId="{B69B0E62-BB7D-4B55-99BB-6F11353742C3}" type="presOf" srcId="{74A73AE1-74B3-46B6-AFDC-032756FD722A}" destId="{B319F780-9B1B-4874-BB19-C3D3F950FC5A}" srcOrd="0" destOrd="0" presId="urn:microsoft.com/office/officeart/2005/8/layout/process1"/>
    <dgm:cxn modelId="{20DB1A67-071E-4A4B-AC9F-35F2D5941B74}" type="presOf" srcId="{E408010C-E6CF-4A15-8B1D-A78BA9237893}" destId="{DF50B8EA-1A3B-4D47-9850-343D40107633}" srcOrd="0" destOrd="0" presId="urn:microsoft.com/office/officeart/2005/8/layout/process1"/>
    <dgm:cxn modelId="{2C30CE57-BFEA-4E76-BF8D-CED7B1A38D53}" type="presOf" srcId="{65C3268D-D47B-4970-8128-85AD8508620E}" destId="{CD4F9C57-C046-4BAB-B670-8D3D4C42E448}" srcOrd="0" destOrd="0" presId="urn:microsoft.com/office/officeart/2005/8/layout/process1"/>
    <dgm:cxn modelId="{EF7EA458-651E-4578-8D02-14E15F9358E4}" type="presOf" srcId="{C51562B9-75E6-4B25-816C-DCA10D9A72A5}" destId="{9CBDF3FE-8C30-42BD-B064-69100A47C16A}" srcOrd="1" destOrd="0" presId="urn:microsoft.com/office/officeart/2005/8/layout/process1"/>
    <dgm:cxn modelId="{BBF1B57B-8127-4200-A651-499A7191F412}" srcId="{65C3268D-D47B-4970-8128-85AD8508620E}" destId="{BA362246-16A6-49E9-8DF3-18F5F8844961}" srcOrd="1" destOrd="0" parTransId="{73943D7D-4094-4BC0-BFFC-20D3CF19743C}" sibTransId="{E4DBD8DE-CD64-48EF-8079-4E2086EF72E6}"/>
    <dgm:cxn modelId="{5F526E83-8551-42E7-9F04-99255E758C35}" type="presOf" srcId="{15E3E6F5-5A16-4385-83B4-7EC2866AF064}" destId="{EF4E835D-9FD4-45F7-83C6-EABDEEA10617}" srcOrd="1" destOrd="0" presId="urn:microsoft.com/office/officeart/2005/8/layout/process1"/>
    <dgm:cxn modelId="{D01BD1B0-A9E0-42CA-ADC0-B62AF9CAC0E9}" srcId="{65C3268D-D47B-4970-8128-85AD8508620E}" destId="{2BC43824-FE23-4757-86A5-9900FF18C20A}" srcOrd="3" destOrd="0" parTransId="{019CBE7F-13A8-451F-A2DA-D3A998F7127F}" sibTransId="{C8E10589-CA6B-45EE-80BC-3A5FBB511700}"/>
    <dgm:cxn modelId="{78D315C2-319D-454A-85E4-A85AEE6784E1}" type="presOf" srcId="{BA362246-16A6-49E9-8DF3-18F5F8844961}" destId="{A81F8AEC-959D-4B65-9C1F-1650C2074945}" srcOrd="0" destOrd="0" presId="urn:microsoft.com/office/officeart/2005/8/layout/process1"/>
    <dgm:cxn modelId="{A09912E4-9126-44B0-9D17-DD952E806B5F}" type="presOf" srcId="{E4DBD8DE-CD64-48EF-8079-4E2086EF72E6}" destId="{A7EC0A8A-C036-4D54-9FD8-F6A3A99239D7}" srcOrd="1" destOrd="0" presId="urn:microsoft.com/office/officeart/2005/8/layout/process1"/>
    <dgm:cxn modelId="{84391EF0-37B8-4138-8E23-DE0BA3C4C487}" type="presOf" srcId="{15E3E6F5-5A16-4385-83B4-7EC2866AF064}" destId="{4E809D3B-2063-4193-92EA-3A5A647EA5B6}" srcOrd="0" destOrd="0" presId="urn:microsoft.com/office/officeart/2005/8/layout/process1"/>
    <dgm:cxn modelId="{4DFDFAF3-107B-4C86-9BEF-F908B7178CF9}" srcId="{65C3268D-D47B-4970-8128-85AD8508620E}" destId="{E408010C-E6CF-4A15-8B1D-A78BA9237893}" srcOrd="2" destOrd="0" parTransId="{FB2C767E-E4E6-43C5-81DD-EF3E89333D2C}" sibTransId="{15E3E6F5-5A16-4385-83B4-7EC2866AF064}"/>
    <dgm:cxn modelId="{6F897FE1-1270-4194-8274-C271304DF386}" type="presParOf" srcId="{CD4F9C57-C046-4BAB-B670-8D3D4C42E448}" destId="{B319F780-9B1B-4874-BB19-C3D3F950FC5A}" srcOrd="0" destOrd="0" presId="urn:microsoft.com/office/officeart/2005/8/layout/process1"/>
    <dgm:cxn modelId="{5C491A49-F77B-403C-AD07-BFE819BDD96F}" type="presParOf" srcId="{CD4F9C57-C046-4BAB-B670-8D3D4C42E448}" destId="{E5B86E7D-B28B-4F3E-87BA-9CA752516D94}" srcOrd="1" destOrd="0" presId="urn:microsoft.com/office/officeart/2005/8/layout/process1"/>
    <dgm:cxn modelId="{45F0A9E9-D5A4-48DD-A473-A2A166DE0C8F}" type="presParOf" srcId="{E5B86E7D-B28B-4F3E-87BA-9CA752516D94}" destId="{9CBDF3FE-8C30-42BD-B064-69100A47C16A}" srcOrd="0" destOrd="0" presId="urn:microsoft.com/office/officeart/2005/8/layout/process1"/>
    <dgm:cxn modelId="{3FFF458A-B1A7-4F4C-BF9A-F12FE9E5F125}" type="presParOf" srcId="{CD4F9C57-C046-4BAB-B670-8D3D4C42E448}" destId="{A81F8AEC-959D-4B65-9C1F-1650C2074945}" srcOrd="2" destOrd="0" presId="urn:microsoft.com/office/officeart/2005/8/layout/process1"/>
    <dgm:cxn modelId="{3B19DF12-2695-45F6-BE83-03C591332D20}" type="presParOf" srcId="{CD4F9C57-C046-4BAB-B670-8D3D4C42E448}" destId="{4623DA0F-A934-4333-A0EC-7663DB1C1A07}" srcOrd="3" destOrd="0" presId="urn:microsoft.com/office/officeart/2005/8/layout/process1"/>
    <dgm:cxn modelId="{C7BD40EE-98DE-4227-ADC4-BD6EF88E2CB1}" type="presParOf" srcId="{4623DA0F-A934-4333-A0EC-7663DB1C1A07}" destId="{A7EC0A8A-C036-4D54-9FD8-F6A3A99239D7}" srcOrd="0" destOrd="0" presId="urn:microsoft.com/office/officeart/2005/8/layout/process1"/>
    <dgm:cxn modelId="{69F3042D-416A-4051-837D-051AFB168DB5}" type="presParOf" srcId="{CD4F9C57-C046-4BAB-B670-8D3D4C42E448}" destId="{DF50B8EA-1A3B-4D47-9850-343D40107633}" srcOrd="4" destOrd="0" presId="urn:microsoft.com/office/officeart/2005/8/layout/process1"/>
    <dgm:cxn modelId="{7B0C390A-55C9-433C-B7E6-909F5549F8E2}" type="presParOf" srcId="{CD4F9C57-C046-4BAB-B670-8D3D4C42E448}" destId="{4E809D3B-2063-4193-92EA-3A5A647EA5B6}" srcOrd="5" destOrd="0" presId="urn:microsoft.com/office/officeart/2005/8/layout/process1"/>
    <dgm:cxn modelId="{726538B1-BAE1-4790-A6F1-B54CF65D8093}" type="presParOf" srcId="{4E809D3B-2063-4193-92EA-3A5A647EA5B6}" destId="{EF4E835D-9FD4-45F7-83C6-EABDEEA10617}" srcOrd="0" destOrd="0" presId="urn:microsoft.com/office/officeart/2005/8/layout/process1"/>
    <dgm:cxn modelId="{FF1ACD87-BC00-44AA-A7E7-22AB9828F6C0}" type="presParOf" srcId="{CD4F9C57-C046-4BAB-B670-8D3D4C42E448}" destId="{922DE008-900C-4C6A-B576-621D3FAFF4E9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19F780-9B1B-4874-BB19-C3D3F950FC5A}">
      <dsp:nvSpPr>
        <dsp:cNvPr id="0" name=""/>
        <dsp:cNvSpPr/>
      </dsp:nvSpPr>
      <dsp:spPr>
        <a:xfrm>
          <a:off x="3571" y="1883948"/>
          <a:ext cx="1561703" cy="165076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Shadow Detection</a:t>
          </a:r>
          <a:endParaRPr lang="zh-CN" altLang="en-US" sz="1800" kern="1200" dirty="0"/>
        </a:p>
      </dsp:txBody>
      <dsp:txXfrm>
        <a:off x="49312" y="1929689"/>
        <a:ext cx="1470221" cy="1559287"/>
      </dsp:txXfrm>
    </dsp:sp>
    <dsp:sp modelId="{E5B86E7D-B28B-4F3E-87BA-9CA752516D94}">
      <dsp:nvSpPr>
        <dsp:cNvPr id="0" name=""/>
        <dsp:cNvSpPr/>
      </dsp:nvSpPr>
      <dsp:spPr>
        <a:xfrm>
          <a:off x="1721445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1721445" y="2593142"/>
        <a:ext cx="231757" cy="232382"/>
      </dsp:txXfrm>
    </dsp:sp>
    <dsp:sp modelId="{A81F8AEC-959D-4B65-9C1F-1650C2074945}">
      <dsp:nvSpPr>
        <dsp:cNvPr id="0" name=""/>
        <dsp:cNvSpPr/>
      </dsp:nvSpPr>
      <dsp:spPr>
        <a:xfrm>
          <a:off x="2189956" y="1883948"/>
          <a:ext cx="1561703" cy="165076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Interactive Region Growing</a:t>
          </a:r>
          <a:endParaRPr lang="zh-CN" altLang="en-US" sz="1800" kern="1200" dirty="0"/>
        </a:p>
      </dsp:txBody>
      <dsp:txXfrm>
        <a:off x="2235697" y="1929689"/>
        <a:ext cx="1470221" cy="1559287"/>
      </dsp:txXfrm>
    </dsp:sp>
    <dsp:sp modelId="{4623DA0F-A934-4333-A0EC-7663DB1C1A07}">
      <dsp:nvSpPr>
        <dsp:cNvPr id="0" name=""/>
        <dsp:cNvSpPr/>
      </dsp:nvSpPr>
      <dsp:spPr>
        <a:xfrm>
          <a:off x="3907829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3907829" y="2593142"/>
        <a:ext cx="231757" cy="232382"/>
      </dsp:txXfrm>
    </dsp:sp>
    <dsp:sp modelId="{DF50B8EA-1A3B-4D47-9850-343D40107633}">
      <dsp:nvSpPr>
        <dsp:cNvPr id="0" name=""/>
        <dsp:cNvSpPr/>
      </dsp:nvSpPr>
      <dsp:spPr>
        <a:xfrm>
          <a:off x="4376340" y="1883948"/>
          <a:ext cx="1561703" cy="165076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Boundary Extraction and Smoothing</a:t>
          </a:r>
          <a:endParaRPr lang="zh-CN" altLang="en-US" sz="1800" kern="1200" dirty="0"/>
        </a:p>
      </dsp:txBody>
      <dsp:txXfrm>
        <a:off x="4422081" y="1929689"/>
        <a:ext cx="1470221" cy="1559287"/>
      </dsp:txXfrm>
    </dsp:sp>
    <dsp:sp modelId="{4E809D3B-2063-4193-92EA-3A5A647EA5B6}">
      <dsp:nvSpPr>
        <dsp:cNvPr id="0" name=""/>
        <dsp:cNvSpPr/>
      </dsp:nvSpPr>
      <dsp:spPr>
        <a:xfrm>
          <a:off x="6094214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6094214" y="2593142"/>
        <a:ext cx="231757" cy="232382"/>
      </dsp:txXfrm>
    </dsp:sp>
    <dsp:sp modelId="{922DE008-900C-4C6A-B576-621D3FAFF4E9}">
      <dsp:nvSpPr>
        <dsp:cNvPr id="0" name=""/>
        <dsp:cNvSpPr/>
      </dsp:nvSpPr>
      <dsp:spPr>
        <a:xfrm>
          <a:off x="6562724" y="1883948"/>
          <a:ext cx="1561703" cy="165076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Shadow Removal</a:t>
          </a:r>
          <a:endParaRPr lang="zh-CN" altLang="en-US" sz="1800" kern="1200" dirty="0"/>
        </a:p>
      </dsp:txBody>
      <dsp:txXfrm>
        <a:off x="6608465" y="1929689"/>
        <a:ext cx="1470221" cy="15592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50F083-6108-4243-A388-DDB13CB06986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31F93-DC01-482F-AB5B-F81885DA799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2"/>
          <a:srcRect t="12500" b="12500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931" y="3066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>
            <a:norm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616868"/>
            <a:ext cx="10515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24" name="图片 23"/>
          <p:cNvPicPr>
            <a:picLocks noChangeAspect="1"/>
          </p:cNvPicPr>
          <p:nvPr userDrawn="1"/>
        </p:nvPicPr>
        <p:blipFill rotWithShape="1">
          <a:blip r:embed="rId2" cstate="email"/>
          <a:srcRect r="416"/>
          <a:stretch>
            <a:fillRect/>
          </a:stretch>
        </p:blipFill>
        <p:spPr>
          <a:xfrm>
            <a:off x="-1" y="5120806"/>
            <a:ext cx="12191999" cy="1759932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328428"/>
            <a:ext cx="2772075" cy="7628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gradFill>
          <a:gsLst>
            <a:gs pos="100000">
              <a:srgbClr val="7F0020"/>
            </a:gs>
            <a:gs pos="0">
              <a:srgbClr val="D74034"/>
            </a:gs>
            <a:gs pos="30000">
              <a:srgbClr val="C0000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80992"/>
            <a:ext cx="10515600" cy="1296015"/>
          </a:xfrm>
        </p:spPr>
        <p:txBody>
          <a:bodyPr anchor="b">
            <a:noAutofit/>
          </a:bodyPr>
          <a:lstStyle>
            <a:lvl1pPr>
              <a:defRPr sz="80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email"/>
          <a:srcRect r="313"/>
          <a:stretch>
            <a:fillRect/>
          </a:stretch>
        </p:blipFill>
        <p:spPr>
          <a:xfrm>
            <a:off x="0" y="5069225"/>
            <a:ext cx="12192000" cy="1798303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328428"/>
            <a:ext cx="2772075" cy="7628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email"/>
          <a:srcRect r="416"/>
          <a:stretch>
            <a:fillRect/>
          </a:stretch>
        </p:blipFill>
        <p:spPr>
          <a:xfrm>
            <a:off x="-1" y="5120806"/>
            <a:ext cx="12191999" cy="1759932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182508"/>
            <a:ext cx="2772075" cy="762828"/>
          </a:xfrm>
          <a:prstGeom prst="rect">
            <a:avLst/>
          </a:prstGeom>
        </p:spPr>
      </p:pic>
      <p:sp>
        <p:nvSpPr>
          <p:cNvPr id="10" name="标题 8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底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7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底纹 + 校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26812" y="325447"/>
            <a:ext cx="2810614" cy="752510"/>
          </a:xfrm>
          <a:prstGeom prst="rect">
            <a:avLst/>
          </a:prstGeom>
        </p:spPr>
      </p:pic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7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等腰三角形 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539503" y="2755"/>
            <a:ext cx="10515600" cy="1315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0">
            <a:normAutofit/>
          </a:bodyPr>
          <a:lstStyle>
            <a:lvl1pPr algn="r">
              <a:defRPr sz="32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  <p:grpSp>
        <p:nvGrpSpPr>
          <p:cNvPr id="13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14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含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等腰三角形 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539503" y="2755"/>
            <a:ext cx="10515600" cy="1315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0">
            <a:normAutofit/>
          </a:bodyPr>
          <a:lstStyle>
            <a:lvl1pPr algn="r">
              <a:defRPr sz="32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  <p:grpSp>
        <p:nvGrpSpPr>
          <p:cNvPr id="13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14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863600" y="1579654"/>
            <a:ext cx="10309225" cy="4646612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等腰三角形 6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549169" y="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信息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accent1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6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等腰三角形 26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 hasCustomPrompt="1"/>
          </p:nvPr>
        </p:nvSpPr>
        <p:spPr>
          <a:xfrm>
            <a:off x="1478543" y="0"/>
            <a:ext cx="10515600" cy="131088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物质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2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779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lang="zh-CN" altLang="en-US" sz="3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生命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3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31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等腰三角形 3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3" name="图片 32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创管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4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890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创艺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5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科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281832" y="182507"/>
            <a:ext cx="8216283" cy="759735"/>
          </a:xfrm>
          <a:solidFill>
            <a:srgbClr val="014099"/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 userDrawn="1"/>
        </p:nvGrpSpPr>
        <p:grpSpPr>
          <a:xfrm>
            <a:off x="-1" y="1013101"/>
            <a:ext cx="12192001" cy="5844899"/>
            <a:chOff x="-1" y="1092199"/>
            <a:chExt cx="12192001" cy="5765801"/>
          </a:xfrm>
        </p:grpSpPr>
        <p:pic>
          <p:nvPicPr>
            <p:cNvPr id="8" name="图片 7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-1" y="1092199"/>
              <a:ext cx="12192001" cy="5765801"/>
            </a:xfrm>
            <a:prstGeom prst="rect">
              <a:avLst/>
            </a:prstGeom>
          </p:spPr>
        </p:pic>
        <p:sp>
          <p:nvSpPr>
            <p:cNvPr id="9" name="矩形 8"/>
            <p:cNvSpPr/>
            <p:nvPr userDrawn="1"/>
          </p:nvSpPr>
          <p:spPr>
            <a:xfrm>
              <a:off x="0" y="1092199"/>
              <a:ext cx="12192000" cy="5765801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 userDrawn="1"/>
        </p:nvSpPr>
        <p:spPr>
          <a:xfrm>
            <a:off x="0" y="955951"/>
            <a:ext cx="12192000" cy="156384"/>
          </a:xfrm>
          <a:prstGeom prst="rect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/>
          <p:cNvSpPr/>
          <p:nvPr userDrawn="1"/>
        </p:nvSpPr>
        <p:spPr>
          <a:xfrm>
            <a:off x="0" y="72341"/>
            <a:ext cx="139700" cy="835638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00" y="206657"/>
            <a:ext cx="2603500" cy="701321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D4B51F-5022-4B9A-B1DC-58E2D82F8E58}" type="datetimeFigureOut">
              <a:rPr lang="zh-CN" altLang="en-US" smtClean="0"/>
              <a:t>2025/1/9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BA1DFDC3-8CBB-4ECF-95EC-BABF09A9E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43456"/>
            <a:ext cx="10056779" cy="2533552"/>
          </a:xfrm>
        </p:spPr>
        <p:txBody>
          <a:bodyPr/>
          <a:lstStyle/>
          <a:p>
            <a:r>
              <a:rPr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User-Assisted Shadow Detection and Removal Algorithm </a:t>
            </a:r>
            <a:br>
              <a:rPr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Based on </a:t>
            </a:r>
            <a:br>
              <a:rPr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Thresholding and Region Growing</a:t>
            </a:r>
            <a:endParaRPr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6838B976-C8B3-4982-8998-76E5F9A5D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US" altLang="zh-CN" dirty="0" err="1"/>
              <a:t>Yining</a:t>
            </a:r>
            <a:r>
              <a:rPr lang="en-US" altLang="zh-CN" dirty="0"/>
              <a:t> Jiang, </a:t>
            </a:r>
            <a:r>
              <a:rPr lang="en-US" altLang="zh-CN" dirty="0" err="1"/>
              <a:t>Zhaojun</a:t>
            </a:r>
            <a:r>
              <a:rPr lang="en-US" altLang="zh-CN" dirty="0"/>
              <a:t> Ni, Lanxuan Zhang</a:t>
            </a:r>
          </a:p>
          <a:p>
            <a:r>
              <a:rPr lang="en-US" altLang="zh-CN" dirty="0"/>
              <a:t>School of Information Science and Technology, </a:t>
            </a:r>
            <a:r>
              <a:rPr lang="en-US" altLang="zh-CN" dirty="0" err="1"/>
              <a:t>Shanghaitech</a:t>
            </a:r>
            <a:r>
              <a:rPr lang="en-US" altLang="zh-CN" dirty="0"/>
              <a:t> University</a:t>
            </a:r>
          </a:p>
          <a:p>
            <a:r>
              <a:rPr lang="en-US" altLang="zh-CN" dirty="0"/>
              <a:t>2025.1.13 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6F8D26-B507-4412-89C4-7BD53FCA88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886" y="1716427"/>
            <a:ext cx="5090808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Shadows affect object recognition and scene understanding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Difficulties in separating objects from their shadows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Proposed Solution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Combination of YCbCr color space analysis, seeded region growing (SRG), and Gaussian filtering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8152166-5D07-4372-9156-76F457A2AC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4376" y="1716427"/>
            <a:ext cx="3777068" cy="28777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Methodology Overview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8D7A69DB-2318-4FAC-AC13-3CE90688F6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344525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57531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Shadow Detection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8A23DB-CAD6-493F-96FA-2E286B3ED4C2}"/>
                  </a:ext>
                </a:extLst>
              </p:cNvPr>
              <p:cNvSpPr txBox="1"/>
              <p:nvPr/>
            </p:nvSpPr>
            <p:spPr>
              <a:xfrm>
                <a:off x="6944263" y="1740539"/>
                <a:ext cx="2404761" cy="3689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𝑇h𝑟𝑒𝑠h𝑜𝑙𝑑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sub>
                        </m:sSub>
                      </m:num>
                      <m:den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𝑅𝑎𝑡𝑖𝑜</m:t>
                        </m:r>
                      </m:den>
                    </m:f>
                  </m:oMath>
                </a14:m>
                <a:endParaRPr lang="zh-CN" altLang="en-US" dirty="0"/>
              </a:p>
            </p:txBody>
          </p:sp>
        </mc:Choice>
        <mc:Fallback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8A23DB-CAD6-493F-96FA-2E286B3ED4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4263" y="1740539"/>
                <a:ext cx="2404761" cy="368947"/>
              </a:xfrm>
              <a:prstGeom prst="rect">
                <a:avLst/>
              </a:prstGeom>
              <a:blipFill>
                <a:blip r:embed="rId2"/>
                <a:stretch>
                  <a:fillRect l="-3544" r="-1519"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DC1E777A-3003-4C7B-885E-8ADDE9692EE5}"/>
                  </a:ext>
                </a:extLst>
              </p:cNvPr>
              <p:cNvSpPr txBox="1"/>
              <p:nvPr/>
            </p:nvSpPr>
            <p:spPr>
              <a:xfrm>
                <a:off x="6944263" y="2242026"/>
                <a:ext cx="330616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𝑆h𝑎𝑑𝑜𝑤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𝑀𝑎𝑠𝑘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𝑇h𝑟𝑒𝑠h𝑜𝑙𝑑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DC1E777A-3003-4C7B-885E-8ADDE969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4263" y="2242026"/>
                <a:ext cx="3306161" cy="276999"/>
              </a:xfrm>
              <a:prstGeom prst="rect">
                <a:avLst/>
              </a:prstGeom>
              <a:blipFill>
                <a:blip r:embed="rId3"/>
                <a:stretch>
                  <a:fillRect l="-1105" r="-921"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E13D87F-AA96-4AE8-AF75-5A71D2195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6216" y="1443841"/>
                <a:ext cx="4491523" cy="39703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zh-CN" altLang="zh-CN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zh-CN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kumimoji="0" lang="zh-CN" altLang="zh-CN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Convert RGB image to YCbCr color space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lang="en-US" altLang="zh-CN" sz="2800" dirty="0">
                    <a:latin typeface="Arial" panose="020B0604020202020204" pitchFamily="34" charset="0"/>
                    <a:cs typeface="Arial" panose="020B0604020202020204" pitchFamily="34" charset="0"/>
                  </a:rPr>
                  <a:t>Calculate mean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𝜇</m:t>
                        </m:r>
                      </m:e>
                      <m:sub>
                        <m: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n-US" altLang="zh-CN" sz="2800" dirty="0">
                    <a:latin typeface="Arial" panose="020B0604020202020204" pitchFamily="34" charset="0"/>
                    <a:cs typeface="Arial" panose="020B0604020202020204" pitchFamily="34" charset="0"/>
                  </a:rPr>
                  <a:t>)  and standard</a:t>
                </a:r>
              </a:p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zh-CN" sz="2800" dirty="0">
                    <a:latin typeface="Arial" panose="020B0604020202020204" pitchFamily="34" charset="0"/>
                    <a:cs typeface="Arial" panose="020B0604020202020204" pitchFamily="34" charset="0"/>
                  </a:rPr>
                  <a:t>deviation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𝜎</m:t>
                        </m:r>
                      </m:e>
                      <m:sub>
                        <m: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n-US" altLang="zh-CN" sz="28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zh-CN" sz="2800" dirty="0">
                    <a:latin typeface="Arial" panose="020B0604020202020204" pitchFamily="34" charset="0"/>
                    <a:cs typeface="Arial" panose="020B0604020202020204" pitchFamily="34" charset="0"/>
                  </a:rPr>
                  <a:t>of the </a:t>
                </a:r>
                <a:r>
                  <a:rPr lang="zh-CN" altLang="zh-CN" sz="2800" dirty="0">
                    <a:latin typeface="Arial" panose="020B0604020202020204" pitchFamily="34" charset="0"/>
                    <a:cs typeface="Arial" panose="020B0604020202020204" pitchFamily="34" charset="0"/>
                  </a:rPr>
                  <a:t>luminance (Y) channel </a:t>
                </a:r>
                <a:endPara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kumimoji="0" lang="zh-CN" altLang="zh-CN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Apply thresholding to detect shadow regions</a:t>
                </a:r>
              </a:p>
            </p:txBody>
          </p:sp>
        </mc:Choice>
        <mc:Fallback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E13D87F-AA96-4AE8-AF75-5A71D21958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6216" y="1443841"/>
                <a:ext cx="4491523" cy="3970318"/>
              </a:xfrm>
              <a:prstGeom prst="rect">
                <a:avLst/>
              </a:prstGeom>
              <a:blipFill>
                <a:blip r:embed="rId4"/>
                <a:stretch>
                  <a:fillRect l="-2714" r="-543" b="-3840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图片 7">
            <a:extLst>
              <a:ext uri="{FF2B5EF4-FFF2-40B4-BE49-F238E27FC236}">
                <a16:creationId xmlns:a16="http://schemas.microsoft.com/office/drawing/2014/main" id="{C238645C-F25D-4CCF-82AB-D60B07E240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9956" y="2773362"/>
            <a:ext cx="3028160" cy="250728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4889A9D0-2107-42D3-A208-E8A035B7E0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8116" y="2773362"/>
            <a:ext cx="3028160" cy="2507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401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Region Growing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65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Boundary Extraction and Smoothing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832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Shadow Removal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532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Experimental Results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270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Limitations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287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Future Work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9550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10983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3E4595-D1F3-4A79-86C1-F06CF4567F1F}"/>
              </a:ext>
            </a:extLst>
          </p:cNvPr>
          <p:cNvSpPr txBox="1"/>
          <p:nvPr/>
        </p:nvSpPr>
        <p:spPr>
          <a:xfrm>
            <a:off x="492867" y="1342417"/>
            <a:ext cx="1066151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[1] K. Deb and A. H. </a:t>
            </a:r>
            <a:r>
              <a:rPr lang="en-US" altLang="zh-CN" dirty="0" err="1"/>
              <a:t>Suny</a:t>
            </a:r>
            <a:r>
              <a:rPr lang="en-US" altLang="zh-CN" dirty="0"/>
              <a:t>, “Shadow detection and removal based on </a:t>
            </a:r>
            <a:r>
              <a:rPr lang="en-US" altLang="zh-CN" dirty="0" err="1"/>
              <a:t>YCbCr</a:t>
            </a:r>
            <a:r>
              <a:rPr lang="en-US" altLang="zh-CN" dirty="0"/>
              <a:t> color space,” </a:t>
            </a:r>
            <a:r>
              <a:rPr lang="en-US" altLang="zh-CN" dirty="0" err="1"/>
              <a:t>SmartCR</a:t>
            </a:r>
            <a:r>
              <a:rPr lang="en-US" altLang="zh-CN" dirty="0"/>
              <a:t>, vol. 4, no. 1, pp. 23–33, 2014.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 [2] M. Mary </a:t>
            </a:r>
            <a:r>
              <a:rPr lang="en-US" altLang="zh-CN" dirty="0" err="1"/>
              <a:t>Synthuja</a:t>
            </a:r>
            <a:r>
              <a:rPr lang="en-US" altLang="zh-CN" dirty="0"/>
              <a:t> Jain </a:t>
            </a:r>
            <a:r>
              <a:rPr lang="en-US" altLang="zh-CN" dirty="0" err="1"/>
              <a:t>Preetha</a:t>
            </a:r>
            <a:r>
              <a:rPr lang="en-US" altLang="zh-CN" dirty="0"/>
              <a:t>, L. Padma Suresh, and M. John Bosco, “Image segmentation using seeded region growing,” in 2012 International Conference on Computing, Electronics and Electrical Technologies (IC CEET), </a:t>
            </a:r>
            <a:r>
              <a:rPr lang="en-US" altLang="zh-CN" dirty="0" err="1"/>
              <a:t>Nagercoil</a:t>
            </a:r>
            <a:r>
              <a:rPr lang="en-US" altLang="zh-CN" dirty="0"/>
              <a:t>, India, 2012, pp. 576–583.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[3] F. Liu and M. </a:t>
            </a:r>
            <a:r>
              <a:rPr lang="en-US" altLang="zh-CN" dirty="0" err="1"/>
              <a:t>Gleicher</a:t>
            </a:r>
            <a:r>
              <a:rPr lang="en-US" altLang="zh-CN" dirty="0"/>
              <a:t>, “Texture-consistent shadow removal,” in Com </a:t>
            </a:r>
            <a:r>
              <a:rPr lang="en-US" altLang="zh-CN" dirty="0" err="1"/>
              <a:t>puter</a:t>
            </a:r>
            <a:r>
              <a:rPr lang="en-US" altLang="zh-CN" dirty="0"/>
              <a:t> Vision–ECCV 2008: 10th European Conference on Computer Vision, Marseille, France, October 12-18, 2008, Proceedings, Part IV 10, 2008, pp. 437–450.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 [4] Y. Shor and D. </a:t>
            </a:r>
            <a:r>
              <a:rPr lang="en-US" altLang="zh-CN" dirty="0" err="1"/>
              <a:t>Lischinski</a:t>
            </a:r>
            <a:r>
              <a:rPr lang="en-US" altLang="zh-CN" dirty="0"/>
              <a:t>, “The shadow meets the mask: Pyramid-based shadow removal,” in Computer Graphics Forum, vol. 27, no. 2, 2008, pp. 577–586, Wiley Online Library.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 [5] C. Xiao, D. Xiao, L. Zhang, and L. Chen, “Efficient shadow removal using subregion matching illumination transfer,” in Computer Graphics Forum, vol. 32, no. 7, 2013, pp. 421–430, Wiley Online Library.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[6] L. Zhang, Q. Zhang, and C. Xiao, “Shadow remover: Image shadow re </a:t>
            </a:r>
            <a:r>
              <a:rPr lang="en-US" altLang="zh-CN" dirty="0" err="1"/>
              <a:t>moval</a:t>
            </a:r>
            <a:r>
              <a:rPr lang="en-US" altLang="zh-CN" dirty="0"/>
              <a:t> based on illumination recovering optimization,” IEEE Transactions on Image Processing, vol. 24, no. 11, pp. 4623–4636, 2015.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32050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583227D-A867-4CC0-A4DD-55124268A05C}"/>
              </a:ext>
            </a:extLst>
          </p:cNvPr>
          <p:cNvSpPr txBox="1"/>
          <p:nvPr/>
        </p:nvSpPr>
        <p:spPr>
          <a:xfrm>
            <a:off x="1540907" y="2828835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7200" dirty="0">
                <a:latin typeface="Arial" panose="020B0604020202020204" pitchFamily="34" charset="0"/>
                <a:cs typeface="Arial" panose="020B0604020202020204" pitchFamily="34" charset="0"/>
              </a:rPr>
              <a:t>Thanks for listening</a:t>
            </a:r>
            <a:r>
              <a:rPr lang="zh-CN" altLang="en-US" sz="7200" dirty="0">
                <a:latin typeface="Arial" panose="020B0604020202020204" pitchFamily="34" charset="0"/>
                <a:cs typeface="Arial" panose="020B0604020202020204" pitchFamily="34" charset="0"/>
              </a:rPr>
              <a:t>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hanghaiTech">
      <a:dk1>
        <a:sysClr val="windowText" lastClr="000000"/>
      </a:dk1>
      <a:lt1>
        <a:sysClr val="window" lastClr="FFFFFF"/>
      </a:lt1>
      <a:dk2>
        <a:srgbClr val="A40006"/>
      </a:dk2>
      <a:lt2>
        <a:srgbClr val="E7E6E6"/>
      </a:lt2>
      <a:accent1>
        <a:srgbClr val="004098"/>
      </a:accent1>
      <a:accent2>
        <a:srgbClr val="009944"/>
      </a:accent2>
      <a:accent3>
        <a:srgbClr val="F39800"/>
      </a:accent3>
      <a:accent4>
        <a:srgbClr val="7E3C93"/>
      </a:accent4>
      <a:accent5>
        <a:srgbClr val="269BC1"/>
      </a:accent5>
      <a:accent6>
        <a:srgbClr val="A40006"/>
      </a:accent6>
      <a:hlink>
        <a:srgbClr val="A40006"/>
      </a:hlink>
      <a:folHlink>
        <a:srgbClr val="A40006"/>
      </a:folHlink>
    </a:clrScheme>
    <a:fontScheme name="微软雅黑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450</Words>
  <Application>Microsoft Office PowerPoint</Application>
  <PresentationFormat>宽屏</PresentationFormat>
  <Paragraphs>38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DengXian</vt:lpstr>
      <vt:lpstr>Arial</vt:lpstr>
      <vt:lpstr>Cambria Math</vt:lpstr>
      <vt:lpstr>微软雅黑</vt:lpstr>
      <vt:lpstr>Office 主题​​</vt:lpstr>
      <vt:lpstr>User-Assisted Shadow Detection and Removal Algorithm  Based on  Thresholding and Region Growing</vt:lpstr>
      <vt:lpstr>Introduction</vt:lpstr>
      <vt:lpstr>Methodology Overview</vt:lpstr>
      <vt:lpstr>Shadow Detection</vt:lpstr>
      <vt:lpstr>Region Growing</vt:lpstr>
      <vt:lpstr>Boundary Extraction and Smoothing</vt:lpstr>
      <vt:lpstr>Shadow Removal</vt:lpstr>
      <vt:lpstr>Experimental Results</vt:lpstr>
      <vt:lpstr>Limitations</vt:lpstr>
      <vt:lpstr>Future Work</vt:lpstr>
      <vt:lpstr>Conclusion</vt:lpstr>
      <vt:lpstr>References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George Yao;Jiahe Shi</dc:creator>
  <cp:lastModifiedBy>ZhangLanxuan</cp:lastModifiedBy>
  <cp:revision>82</cp:revision>
  <dcterms:created xsi:type="dcterms:W3CDTF">2019-02-23T16:09:00Z</dcterms:created>
  <dcterms:modified xsi:type="dcterms:W3CDTF">2025-01-09T16:55:47Z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2052-11.1.0.10495</vt:lpwstr>
  </property>
  <property fmtid="{D5CDD505-2E9C-101B-9397-08002B2CF9AE}" pid="3" name="ICV">
    <vt:lpwstr>80B76266CAF048D0B180BD7250798C20</vt:lpwstr>
  </property>
</Properties>
</file>